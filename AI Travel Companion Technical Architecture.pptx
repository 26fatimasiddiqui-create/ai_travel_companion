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0" y="3970883"/>
            <a:ext cx="1333500" cy="19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33887" y="2267842"/>
            <a:ext cx="33242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C8A86B"/>
                </a:solidFill>
                <a:latin typeface="Inter SemiBold"/>
              </a:rPr>
              <a:t>SYSTEM DESIGN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5650" y="2572642"/>
            <a:ext cx="5600700" cy="569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3900" b="0" i="0" u="none">
                <a:solidFill>
                  <a:srgbClr val="F5F1E8"/>
                </a:solidFill>
                <a:latin typeface="Poppins SemiBold"/>
              </a:rPr>
              <a:t>AI Travel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8587" y="3285083"/>
            <a:ext cx="43148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D8CBB8"/>
                </a:solidFill>
                <a:latin typeface="Inter Light"/>
              </a:rPr>
              <a:t>Technical Architecture &amp; Development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43300" y="4275683"/>
            <a:ext cx="51054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888888"/>
                </a:solidFill>
                <a:latin typeface="Fira Code"/>
              </a:rPr>
              <a:t>Full-Stack Engineering Spec • React • Spring Boot • MySQL • AI APIs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1025" y="1955006"/>
          <a:ext cx="11010899" cy="3881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6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179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8A86B"/>
                          </a:solidFill>
                          <a:latin typeface="Poppins SemiBold"/>
                        </a:rPr>
                        <a:t>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8A86B"/>
                          </a:solidFill>
                          <a:latin typeface="Poppins SemiBold"/>
                        </a:rPr>
                        <a:t>Technology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8A86B"/>
                          </a:solidFill>
                          <a:latin typeface="Poppins SemiBold"/>
                        </a:rPr>
                        <a:t>Purpose &amp; Architecture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179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5F1E8"/>
                          </a:solidFill>
                          <a:latin typeface="Inter"/>
                        </a:rPr>
                        <a:t>Frontend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5F1E8"/>
                          </a:solidFill>
                          <a:latin typeface="Inter"/>
                        </a:rPr>
                        <a:t>React.js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5F1E8"/>
                          </a:solidFill>
                          <a:latin typeface="Inter"/>
                        </a:rPr>
                        <a:t>Builds the responsive user interface using reusable components.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179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5F1E8"/>
                          </a:solidFill>
                          <a:latin typeface="Inter"/>
                        </a:rPr>
                        <a:t>Language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5F1E8"/>
                          </a:solidFill>
                          <a:latin typeface="Inter"/>
                        </a:rPr>
                        <a:t>JavaScript (ES6+)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5F1E8"/>
                          </a:solidFill>
                          <a:latin typeface="Inter"/>
                        </a:rPr>
                        <a:t>Handles frontend interactivity and asynchronous API communication.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179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5F1E8"/>
                          </a:solidFill>
                          <a:latin typeface="Inter"/>
                        </a:rPr>
                        <a:t>Styling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5F1E8"/>
                          </a:solidFill>
                          <a:latin typeface="Inter"/>
                        </a:rPr>
                        <a:t>Tailwind CSS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5F1E8"/>
                          </a:solidFill>
                          <a:latin typeface="Inter"/>
                        </a:rPr>
                        <a:t>Provides utility-first styling for modern responsive UI designs.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179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5F1E8"/>
                          </a:solidFill>
                          <a:latin typeface="Inter"/>
                        </a:rPr>
                        <a:t>Backend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5F1E8"/>
                          </a:solidFill>
                          <a:latin typeface="Inter"/>
                        </a:rPr>
                        <a:t>Java + Spring Boot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5F1E8"/>
                          </a:solidFill>
                          <a:latin typeface="Inter"/>
                        </a:rPr>
                        <a:t>Executes core business logic, REST APIs, and application security.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179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5F1E8"/>
                          </a:solidFill>
                          <a:latin typeface="Inter"/>
                        </a:rPr>
                        <a:t>Database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5F1E8"/>
                          </a:solidFill>
                          <a:latin typeface="Inter"/>
                        </a:rPr>
                        <a:t>MySQL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5F1E8"/>
                          </a:solidFill>
                          <a:latin typeface="Inter"/>
                        </a:rPr>
                        <a:t>Stores relational user profiles, trip itineraries, budgets, and memories.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179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5F1E8"/>
                          </a:solidFill>
                          <a:latin typeface="Inter"/>
                        </a:rPr>
                        <a:t>Security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5F1E8"/>
                          </a:solidFill>
                          <a:latin typeface="Inter"/>
                        </a:rPr>
                        <a:t>JWT Auth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5F1E8"/>
                          </a:solidFill>
                          <a:latin typeface="Inter"/>
                        </a:rPr>
                        <a:t>Ensures secure, stateless user login and session management.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5184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5F1E8"/>
                          </a:solidFill>
                          <a:latin typeface="Inter"/>
                        </a:rPr>
                        <a:t>APIs &amp; AI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5F1E8"/>
                          </a:solidFill>
                          <a:latin typeface="Inter"/>
                        </a:rPr>
                        <a:t>OpenAI / Gemini / Maps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5F1E8"/>
                          </a:solidFill>
                          <a:latin typeface="Inter"/>
                        </a:rPr>
                        <a:t>Powers itinerary generation, geo-navigation, and real-time data.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90550" y="2459831"/>
            <a:ext cx="2202060" cy="9525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92610" y="2459831"/>
            <a:ext cx="2752725" cy="9525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545335" y="2459831"/>
            <a:ext cx="6056114" cy="9525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0550" y="2940843"/>
            <a:ext cx="22020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92610" y="2940843"/>
            <a:ext cx="27527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545335" y="2940843"/>
            <a:ext cx="60561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0550" y="3421856"/>
            <a:ext cx="22020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92610" y="3421856"/>
            <a:ext cx="27527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45335" y="3421856"/>
            <a:ext cx="60561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0550" y="3902868"/>
            <a:ext cx="22020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92610" y="3902868"/>
            <a:ext cx="27527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545335" y="3902868"/>
            <a:ext cx="60561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0550" y="4383881"/>
            <a:ext cx="22020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92610" y="4383881"/>
            <a:ext cx="27527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545335" y="4383881"/>
            <a:ext cx="60561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0550" y="4864893"/>
            <a:ext cx="22020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92610" y="4864893"/>
            <a:ext cx="27527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545335" y="4864893"/>
            <a:ext cx="60561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0550" y="5345906"/>
            <a:ext cx="22020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92610" y="5345906"/>
            <a:ext cx="27527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545335" y="5345906"/>
            <a:ext cx="60561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110" y="2574131"/>
            <a:ext cx="781050" cy="261937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3110" y="3055143"/>
            <a:ext cx="1466850" cy="261937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3110" y="3536156"/>
            <a:ext cx="1085850" cy="261937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3110" y="4017168"/>
            <a:ext cx="1543050" cy="261937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3110" y="4498181"/>
            <a:ext cx="552450" cy="261937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3110" y="4979193"/>
            <a:ext cx="781050" cy="261937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83110" y="5460206"/>
            <a:ext cx="1847850" cy="26193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1025" y="485775"/>
            <a:ext cx="11581447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C8A86B"/>
                </a:solidFill>
                <a:latin typeface="Poppins SemiBold"/>
              </a:rPr>
              <a:t>Technology Stack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1025" y="1123950"/>
            <a:ext cx="11029950" cy="9525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33625"/>
            <a:ext cx="2614612" cy="3124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137" y="2333625"/>
            <a:ext cx="2614612" cy="3124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333625"/>
            <a:ext cx="2614612" cy="3124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362" y="2333625"/>
            <a:ext cx="2614612" cy="3124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095625"/>
            <a:ext cx="224528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8A86B"/>
                </a:solidFill>
                <a:latin typeface="Poppins SemiBold"/>
              </a:rPr>
              <a:t>React.js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505200"/>
            <a:ext cx="2138362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D8CBB8"/>
                </a:solidFill>
                <a:latin typeface="Inter"/>
              </a:rPr>
              <a:t>Virtual DOM enables high-speed rendering for interactive travel dashboards. Component architecture promotes modular UI development and seamless state handling.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4262" y="3095625"/>
            <a:ext cx="224528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8A86B"/>
                </a:solidFill>
                <a:latin typeface="Poppins SemiBold"/>
              </a:rPr>
              <a:t>Spring Boot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4262" y="3505200"/>
            <a:ext cx="213836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D8CBB8"/>
                </a:solidFill>
                <a:latin typeface="Inter"/>
              </a:rPr>
              <a:t>Enterprise-grade Java framework providing secure REST endpoints, robust ORM data mapping, dependency injection, and scalable microservice capabilities.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9375" y="3095625"/>
            <a:ext cx="224528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8A86B"/>
                </a:solidFill>
                <a:latin typeface="Poppins SemiBold"/>
              </a:rPr>
              <a:t>MySQL Persistence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3505200"/>
            <a:ext cx="213836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D8CBB8"/>
                </a:solidFill>
                <a:latin typeface="Inter"/>
              </a:rPr>
              <a:t>Relational ACID compliance ensures data integrity across complex trip structures, financial expense calculations, and user relationship mapping.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4487" y="3095625"/>
            <a:ext cx="224528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8A86B"/>
                </a:solidFill>
                <a:latin typeface="Poppins SemiBold"/>
              </a:rPr>
              <a:t>AI &amp; Spatial APIs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4487" y="3505200"/>
            <a:ext cx="213836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D8CBB8"/>
                </a:solidFill>
                <a:latin typeface="Inter"/>
              </a:rPr>
              <a:t>Gemini/OpenAI models generate context-aware itinerary recommendations, while Google Maps API supplies precise routing and geofencing.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600325"/>
            <a:ext cx="3048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4262" y="2600325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75" y="2600325"/>
            <a:ext cx="2667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4487" y="2600325"/>
            <a:ext cx="304800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1025" y="485775"/>
            <a:ext cx="11581447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C8A86B"/>
                </a:solidFill>
                <a:latin typeface="Poppins SemiBold"/>
              </a:rPr>
              <a:t>Technology Rationale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025" y="1123950"/>
            <a:ext cx="11029950" cy="9525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881437"/>
            <a:ext cx="11029950" cy="28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133850"/>
            <a:ext cx="2095648" cy="115788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4488" y="2499717"/>
            <a:ext cx="2095648" cy="115788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952" y="4133850"/>
            <a:ext cx="2095648" cy="115788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1416" y="2499717"/>
            <a:ext cx="2095648" cy="115788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4879" y="4133850"/>
            <a:ext cx="2095648" cy="11578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8655" y="4295775"/>
            <a:ext cx="186038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8A86B"/>
                </a:solidFill>
                <a:latin typeface="Poppins SemiBold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4610100"/>
            <a:ext cx="1771798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D8CBB8"/>
                </a:solidFill>
                <a:latin typeface="Inter"/>
              </a:rPr>
              <a:t>Requirements Analysis</a:t>
            </a:r>
            <a:r>
              <a:t>
</a:t>
            </a:r>
            <a:r>
              <a:rPr sz="975" b="0" i="0" u="none">
                <a:solidFill>
                  <a:srgbClr val="D8CBB8"/>
                </a:solidFill>
                <a:latin typeface="Inter"/>
              </a:rPr>
              <a:t> Tech Stack Finalization</a:t>
            </a:r>
            <a:r>
              <a:t>
</a:t>
            </a:r>
            <a:r>
              <a:rPr sz="975" b="0" i="0" u="none">
                <a:solidFill>
                  <a:srgbClr val="D8CBB8"/>
                </a:solidFill>
                <a:latin typeface="Inter"/>
              </a:rPr>
              <a:t> UI/UX Wireframes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2118" y="2661642"/>
            <a:ext cx="186038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8A86B"/>
                </a:solidFill>
                <a:latin typeface="Poppins SemiBold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6413" y="2975967"/>
            <a:ext cx="1771798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D8CBB8"/>
                </a:solidFill>
                <a:latin typeface="Inter"/>
              </a:rPr>
              <a:t>JWT Authentication</a:t>
            </a:r>
            <a:r>
              <a:t>
</a:t>
            </a:r>
            <a:r>
              <a:rPr sz="975" b="0" i="0" u="none">
                <a:solidFill>
                  <a:srgbClr val="D8CBB8"/>
                </a:solidFill>
                <a:latin typeface="Inter"/>
              </a:rPr>
              <a:t> MySQL DB Schema</a:t>
            </a:r>
            <a:r>
              <a:t>
</a:t>
            </a:r>
            <a:r>
              <a:rPr sz="975" b="0" i="0" u="none">
                <a:solidFill>
                  <a:srgbClr val="D8CBB8"/>
                </a:solidFill>
                <a:latin typeface="Inter"/>
              </a:rPr>
              <a:t> Core REST API Specs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5582" y="4295775"/>
            <a:ext cx="186038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8A86B"/>
                </a:solidFill>
                <a:latin typeface="Poppins SemiBold"/>
              </a:rPr>
              <a:t>Phase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9877" y="4610100"/>
            <a:ext cx="1771798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D8CBB8"/>
                </a:solidFill>
                <a:latin typeface="Inter"/>
              </a:rPr>
              <a:t>Interactive Trip Planner</a:t>
            </a:r>
            <a:r>
              <a:t>
</a:t>
            </a:r>
            <a:r>
              <a:rPr sz="975" b="0" i="0" u="none">
                <a:solidFill>
                  <a:srgbClr val="D8CBB8"/>
                </a:solidFill>
                <a:latin typeface="Inter"/>
              </a:rPr>
              <a:t> Budget Ledger Engine</a:t>
            </a:r>
            <a:r>
              <a:t>
</a:t>
            </a:r>
            <a:r>
              <a:rPr sz="975" b="0" i="0" u="none">
                <a:solidFill>
                  <a:srgbClr val="D8CBB8"/>
                </a:solidFill>
                <a:latin typeface="Inter"/>
              </a:rPr>
              <a:t> Google Maps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9046" y="2661642"/>
            <a:ext cx="186038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8A86B"/>
                </a:solidFill>
                <a:latin typeface="Poppins SemiBold"/>
              </a:rPr>
              <a:t>Phase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3341" y="2975967"/>
            <a:ext cx="1771798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D8CBB8"/>
                </a:solidFill>
                <a:latin typeface="Inter"/>
              </a:rPr>
              <a:t>AI Engine Pipeline</a:t>
            </a:r>
            <a:r>
              <a:t>
</a:t>
            </a:r>
            <a:r>
              <a:rPr sz="975" b="0" i="0" u="none">
                <a:solidFill>
                  <a:srgbClr val="D8CBB8"/>
                </a:solidFill>
                <a:latin typeface="Inter"/>
              </a:rPr>
              <a:t> Weather API Coupling</a:t>
            </a:r>
            <a:r>
              <a:t>
</a:t>
            </a:r>
            <a:r>
              <a:rPr sz="975" b="0" i="0" u="none">
                <a:solidFill>
                  <a:srgbClr val="D8CBB8"/>
                </a:solidFill>
                <a:latin typeface="Inter"/>
              </a:rPr>
              <a:t> Smart 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2509" y="4295775"/>
            <a:ext cx="186038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8A86B"/>
                </a:solidFill>
                <a:latin typeface="Poppins SemiBold"/>
              </a:rPr>
              <a:t>Phase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6804" y="4610100"/>
            <a:ext cx="1771798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D8CBB8"/>
                </a:solidFill>
                <a:latin typeface="Inter"/>
              </a:rPr>
              <a:t>End-to-End Testing</a:t>
            </a:r>
            <a:r>
              <a:t>
</a:t>
            </a:r>
            <a:r>
              <a:rPr sz="975" b="0" i="0" u="none">
                <a:solidFill>
                  <a:srgbClr val="D8CBB8"/>
                </a:solidFill>
                <a:latin typeface="Inter"/>
              </a:rPr>
              <a:t> Performance Tuning</a:t>
            </a:r>
            <a:r>
              <a:t>
</a:t>
            </a:r>
            <a:r>
              <a:rPr sz="975" b="0" i="0" u="none">
                <a:solidFill>
                  <a:srgbClr val="D8CBB8"/>
                </a:solidFill>
                <a:latin typeface="Inter"/>
              </a:rPr>
              <a:t> CI/CD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025" y="485775"/>
            <a:ext cx="11581447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C8A86B"/>
                </a:solidFill>
                <a:latin typeface="Poppins SemiBold"/>
              </a:rPr>
              <a:t>Project Roadmap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025" y="1123950"/>
            <a:ext cx="11029950" cy="9525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543124" y="38100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28575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776588" y="38100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28575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010051" y="38100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28575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43515" y="38100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28575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76979" y="38100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28575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05100"/>
            <a:ext cx="952500" cy="19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85775"/>
            <a:ext cx="5590698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C8A86B"/>
                </a:solidFill>
                <a:latin typeface="Poppins SemiBold"/>
              </a:rPr>
              <a:t>Overall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1123950"/>
            <a:ext cx="5324475" cy="9525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9525"/>
            <a:ext cx="589597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1419225"/>
            <a:ext cx="559069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8A86B"/>
                </a:solidFill>
                <a:latin typeface="Poppins SemiBold"/>
              </a:rPr>
              <a:t>Multi-Tiered System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1828800"/>
            <a:ext cx="53244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D8CBB8"/>
                </a:solidFill>
                <a:latin typeface="Inter"/>
              </a:rPr>
              <a:t>The application follows a decoupled client-server architecture. The single-page React client communicates with the Spring Boot backend via JSON REST payloads over HTTPS.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914650"/>
            <a:ext cx="50577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D8CBB8"/>
                </a:solidFill>
                <a:latin typeface="Inter"/>
              </a:rPr>
              <a:t>Frontend Tier:</a:t>
            </a:r>
            <a:r>
              <a:rPr sz="1125" b="0" i="0" u="none">
                <a:solidFill>
                  <a:srgbClr val="D8CBB8"/>
                </a:solidFill>
                <a:latin typeface="Inter"/>
              </a:rPr>
              <a:t> Manages state, map displays, and user interactions.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243262"/>
            <a:ext cx="50577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D8CBB8"/>
                </a:solidFill>
                <a:latin typeface="Inter"/>
              </a:rPr>
              <a:t>Backend Tier:</a:t>
            </a:r>
            <a:r>
              <a:rPr sz="1125" b="0" i="0" u="none">
                <a:solidFill>
                  <a:srgbClr val="D8CBB8"/>
                </a:solidFill>
                <a:latin typeface="Inter"/>
              </a:rPr>
              <a:t> Enforces business rules, JWT security, and API proxies.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571875"/>
            <a:ext cx="50577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D8CBB8"/>
                </a:solidFill>
                <a:latin typeface="Inter"/>
              </a:rPr>
              <a:t>Data &amp; Services Tier:</a:t>
            </a:r>
            <a:r>
              <a:rPr sz="1125" b="0" i="0" u="none">
                <a:solidFill>
                  <a:srgbClr val="D8CBB8"/>
                </a:solidFill>
                <a:latin typeface="Inter"/>
              </a:rPr>
              <a:t> MySQL relational storage with external AI integrations.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2914650"/>
            <a:ext cx="114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8A86B"/>
                </a:solidFill>
                <a:latin typeface="Inter"/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3243262"/>
            <a:ext cx="114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8A86B"/>
                </a:solidFill>
                <a:latin typeface="Inter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3571875"/>
            <a:ext cx="114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8A86B"/>
                </a:solidFill>
                <a:latin typeface="Inter"/>
              </a:rPr>
              <a:t>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26493"/>
            <a:ext cx="5372100" cy="29384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426493"/>
            <a:ext cx="5372100" cy="29384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607468"/>
            <a:ext cx="5010150" cy="185737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F5F1E8"/>
                </a:solidFill>
                <a:latin typeface="Fira Code"/>
              </a:rPr>
              <a:t>src/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793206"/>
            <a:ext cx="5010150" cy="185737"/>
          </a:xfrm>
          <a:prstGeom prst="rect">
            <a:avLst/>
          </a:prstGeom>
          <a:noFill/>
        </p:spPr>
        <p:txBody>
          <a:bodyPr wrap="square" lIns="657225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8CBB8"/>
                </a:solidFill>
                <a:latin typeface="Fira Code"/>
              </a:rPr>
              <a:t>├── </a:t>
            </a:r>
            <a:r>
              <a:rPr sz="975" b="0" i="0" u="none">
                <a:solidFill>
                  <a:srgbClr val="F5F1E8"/>
                </a:solidFill>
                <a:latin typeface="Fira Code"/>
              </a:rPr>
              <a:t> pages/</a:t>
            </a:r>
            <a:r>
              <a:rPr sz="975" b="0" i="0" u="none">
                <a:solidFill>
                  <a:srgbClr val="D8CBB8"/>
                </a:solidFill>
                <a:latin typeface="Fira Code"/>
              </a:rPr>
              <a:t> </a:t>
            </a:r>
            <a:r>
              <a:rPr sz="975" b="0" i="1" u="none">
                <a:solidFill>
                  <a:srgbClr val="777777"/>
                </a:solidFill>
                <a:latin typeface="Fira Code"/>
              </a:rPr>
              <a:t>(Login, Dashboard, Trips)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978943"/>
            <a:ext cx="5010150" cy="185737"/>
          </a:xfrm>
          <a:prstGeom prst="rect">
            <a:avLst/>
          </a:prstGeom>
          <a:noFill/>
        </p:spPr>
        <p:txBody>
          <a:bodyPr wrap="square" lIns="1038225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8CBB8"/>
                </a:solidFill>
                <a:latin typeface="Fira Code"/>
              </a:rPr>
              <a:t>├── </a:t>
            </a:r>
            <a:r>
              <a:rPr sz="975" b="0" i="0" u="none">
                <a:solidFill>
                  <a:srgbClr val="F5F1E8"/>
                </a:solidFill>
                <a:latin typeface="Fira Code"/>
              </a:rPr>
              <a:t> components/</a:t>
            </a:r>
            <a:r>
              <a:rPr sz="975" b="0" i="0" u="none">
                <a:solidFill>
                  <a:srgbClr val="D8CBB8"/>
                </a:solidFill>
                <a:latin typeface="Fira Code"/>
              </a:rPr>
              <a:t> </a:t>
            </a:r>
            <a:r>
              <a:rPr sz="975" b="0" i="1" u="none">
                <a:solidFill>
                  <a:srgbClr val="777777"/>
                </a:solidFill>
                <a:latin typeface="Fira Code"/>
              </a:rPr>
              <a:t>(Navbar, Cards, Maps)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164681"/>
            <a:ext cx="5010150" cy="185737"/>
          </a:xfrm>
          <a:prstGeom prst="rect">
            <a:avLst/>
          </a:prstGeom>
          <a:noFill/>
        </p:spPr>
        <p:txBody>
          <a:bodyPr wrap="square" lIns="885825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8CBB8"/>
                </a:solidFill>
                <a:latin typeface="Fira Code"/>
              </a:rPr>
              <a:t>├── </a:t>
            </a:r>
            <a:r>
              <a:rPr sz="975" b="0" i="0" u="none">
                <a:solidFill>
                  <a:srgbClr val="F5F1E8"/>
                </a:solidFill>
                <a:latin typeface="Fira Code"/>
              </a:rPr>
              <a:t> services/</a:t>
            </a:r>
            <a:r>
              <a:rPr sz="975" b="0" i="0" u="none">
                <a:solidFill>
                  <a:srgbClr val="D8CBB8"/>
                </a:solidFill>
                <a:latin typeface="Fira Code"/>
              </a:rPr>
              <a:t> </a:t>
            </a:r>
            <a:r>
              <a:rPr sz="975" b="0" i="1" u="none">
                <a:solidFill>
                  <a:srgbClr val="777777"/>
                </a:solidFill>
                <a:latin typeface="Fira Code"/>
              </a:rPr>
              <a:t>(Axios API Layer)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350418"/>
            <a:ext cx="5010150" cy="185737"/>
          </a:xfrm>
          <a:prstGeom prst="rect">
            <a:avLst/>
          </a:prstGeom>
          <a:noFill/>
        </p:spPr>
        <p:txBody>
          <a:bodyPr wrap="square" lIns="809625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8CBB8"/>
                </a:solidFill>
                <a:latin typeface="Fira Code"/>
              </a:rPr>
              <a:t>├── </a:t>
            </a:r>
            <a:r>
              <a:rPr sz="975" b="0" i="0" u="none">
                <a:solidFill>
                  <a:srgbClr val="F5F1E8"/>
                </a:solidFill>
                <a:latin typeface="Fira Code"/>
              </a:rPr>
              <a:t> context/</a:t>
            </a:r>
            <a:r>
              <a:rPr sz="975" b="0" i="0" u="none">
                <a:solidFill>
                  <a:srgbClr val="D8CBB8"/>
                </a:solidFill>
                <a:latin typeface="Fira Code"/>
              </a:rPr>
              <a:t> </a:t>
            </a:r>
            <a:r>
              <a:rPr sz="975" b="0" i="1" u="none">
                <a:solidFill>
                  <a:srgbClr val="777777"/>
                </a:solidFill>
                <a:latin typeface="Fira Code"/>
              </a:rPr>
              <a:t>(Auth &amp; State Store)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536156"/>
            <a:ext cx="5010150" cy="185737"/>
          </a:xfrm>
          <a:prstGeom prst="rect">
            <a:avLst/>
          </a:prstGeom>
          <a:noFill/>
        </p:spPr>
        <p:txBody>
          <a:bodyPr wrap="square" lIns="657225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8CBB8"/>
                </a:solidFill>
                <a:latin typeface="Fira Code"/>
              </a:rPr>
              <a:t>├── </a:t>
            </a:r>
            <a:r>
              <a:rPr sz="975" b="0" i="0" u="none">
                <a:solidFill>
                  <a:srgbClr val="F5F1E8"/>
                </a:solidFill>
                <a:latin typeface="Fira Code"/>
              </a:rPr>
              <a:t> hooks/</a:t>
            </a:r>
            <a:r>
              <a:rPr sz="975" b="0" i="0" u="none">
                <a:solidFill>
                  <a:srgbClr val="D8CBB8"/>
                </a:solidFill>
                <a:latin typeface="Fira Code"/>
              </a:rPr>
              <a:t> </a:t>
            </a:r>
            <a:r>
              <a:rPr sz="975" b="0" i="1" u="none">
                <a:solidFill>
                  <a:srgbClr val="777777"/>
                </a:solidFill>
                <a:latin typeface="Fira Code"/>
              </a:rPr>
              <a:t>(Custom React Hooks)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721893"/>
            <a:ext cx="5010150" cy="185737"/>
          </a:xfrm>
          <a:prstGeom prst="rect">
            <a:avLst/>
          </a:prstGeom>
          <a:noFill/>
        </p:spPr>
        <p:txBody>
          <a:bodyPr wrap="square" lIns="657225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8CBB8"/>
                </a:solidFill>
                <a:latin typeface="Fira Code"/>
              </a:rPr>
              <a:t>└── </a:t>
            </a:r>
            <a:r>
              <a:rPr sz="975" b="0" i="0" u="none">
                <a:solidFill>
                  <a:srgbClr val="F5F1E8"/>
                </a:solidFill>
                <a:latin typeface="Fira Code"/>
              </a:rPr>
              <a:t> utils/</a:t>
            </a:r>
            <a:r>
              <a:rPr sz="975" b="0" i="0" u="none">
                <a:solidFill>
                  <a:srgbClr val="D8CBB8"/>
                </a:solidFill>
                <a:latin typeface="Fira Code"/>
              </a:rPr>
              <a:t> </a:t>
            </a:r>
            <a:r>
              <a:rPr sz="975" b="0" i="1" u="none">
                <a:solidFill>
                  <a:srgbClr val="777777"/>
                </a:solidFill>
                <a:latin typeface="Fira Code"/>
              </a:rPr>
              <a:t>(Formatters &amp; Constants)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2664618"/>
            <a:ext cx="514064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8A86B"/>
                </a:solidFill>
                <a:latin typeface="Poppins SemiBold"/>
              </a:rPr>
              <a:t>Modular Client Design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636043"/>
            <a:ext cx="142875" cy="1238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43700" y="3169443"/>
            <a:ext cx="46291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D8CBB8"/>
                </a:solidFill>
                <a:latin typeface="Inter"/>
              </a:rPr>
              <a:t>Component Reusability:</a:t>
            </a:r>
            <a:r>
              <a:rPr sz="1125" b="0" i="0" u="none">
                <a:solidFill>
                  <a:srgbClr val="D8CBB8"/>
                </a:solidFill>
                <a:latin typeface="Inter"/>
              </a:rPr>
              <a:t> Isolated UI elements for trip cards, weather displays, and expense ledgers.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3700" y="3712368"/>
            <a:ext cx="46291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D8CBB8"/>
                </a:solidFill>
                <a:latin typeface="Inter"/>
              </a:rPr>
              <a:t>Centralized API Layer:</a:t>
            </a:r>
            <a:r>
              <a:rPr sz="1125" b="0" i="0" u="none">
                <a:solidFill>
                  <a:srgbClr val="D8CBB8"/>
                </a:solidFill>
                <a:latin typeface="Inter"/>
              </a:rPr>
              <a:t> Services encapsulate HTTP queries and handle token headers.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3700" y="4255293"/>
            <a:ext cx="46291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D8CBB8"/>
                </a:solidFill>
                <a:latin typeface="Inter"/>
              </a:rPr>
              <a:t>Global State:</a:t>
            </a:r>
            <a:r>
              <a:rPr sz="1125" b="0" i="0" u="none">
                <a:solidFill>
                  <a:srgbClr val="D8CBB8"/>
                </a:solidFill>
                <a:latin typeface="Inter"/>
              </a:rPr>
              <a:t> Context API manages user session data and global trip context.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3700" y="4798218"/>
            <a:ext cx="46291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D8CBB8"/>
                </a:solidFill>
                <a:latin typeface="Inter"/>
              </a:rPr>
              <a:t>Dynamic Rendering:</a:t>
            </a:r>
            <a:r>
              <a:rPr sz="1125" b="0" i="0" u="none">
                <a:solidFill>
                  <a:srgbClr val="D8CBB8"/>
                </a:solidFill>
                <a:latin typeface="Inter"/>
              </a:rPr>
              <a:t> Instant updates without page refreshes.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" y="2821781"/>
            <a:ext cx="12382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3007518"/>
            <a:ext cx="123825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" y="3193256"/>
            <a:ext cx="123825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3378993"/>
            <a:ext cx="12382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" y="3564731"/>
            <a:ext cx="123825" cy="1238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3750468"/>
            <a:ext cx="123825" cy="1238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77000" y="3169443"/>
            <a:ext cx="114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8A86B"/>
                </a:solidFill>
                <a:latin typeface="Inter"/>
              </a:rPr>
              <a:t>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0" y="3712368"/>
            <a:ext cx="114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8A86B"/>
                </a:solidFill>
                <a:latin typeface="Inter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0" y="4255293"/>
            <a:ext cx="114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8A86B"/>
                </a:solidFill>
                <a:latin typeface="Inter"/>
              </a:rPr>
              <a:t>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0" y="4798218"/>
            <a:ext cx="114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8A86B"/>
                </a:solidFill>
                <a:latin typeface="Inter"/>
              </a:rPr>
              <a:t>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025" y="485775"/>
            <a:ext cx="11581447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C8A86B"/>
                </a:solidFill>
                <a:latin typeface="Poppins SemiBold"/>
              </a:rPr>
              <a:t>Frontend Architecture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1025" y="1123950"/>
            <a:ext cx="11029950" cy="9525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90825"/>
            <a:ext cx="3549699" cy="2209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224" y="2790825"/>
            <a:ext cx="3549699" cy="2209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424" y="2790825"/>
            <a:ext cx="3549699" cy="2209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3552825"/>
            <a:ext cx="322712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8A86B"/>
                </a:solidFill>
                <a:latin typeface="Poppins SemiBold"/>
              </a:rPr>
              <a:t>Controller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962400"/>
            <a:ext cx="307344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D8CBB8"/>
                </a:solidFill>
                <a:latin typeface="Inter"/>
              </a:rPr>
              <a:t>Exposes REST endpoints. Validates incoming requests and delegates execution flow to the Service layer.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9349" y="3552825"/>
            <a:ext cx="322712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8A86B"/>
                </a:solidFill>
                <a:latin typeface="Poppins SemiBold"/>
              </a:rPr>
              <a:t>Service &amp; DTO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9349" y="3962400"/>
            <a:ext cx="307344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D8CBB8"/>
                </a:solidFill>
                <a:latin typeface="Inter"/>
              </a:rPr>
              <a:t>Executes core business algorithms, AI prompt creation, expense calculations, and secure data transfer wrappers.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99549" y="3552825"/>
            <a:ext cx="322712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8A86B"/>
                </a:solidFill>
                <a:latin typeface="Poppins SemiBold"/>
              </a:rPr>
              <a:t>Security &amp;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9549" y="3962400"/>
            <a:ext cx="307344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D8CBB8"/>
                </a:solidFill>
                <a:latin typeface="Inter"/>
              </a:rPr>
              <a:t>Spring Security manages JWT authentication filter chains, while JPA Repositories interface with MySQL.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3057525"/>
            <a:ext cx="3810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9349" y="3057525"/>
            <a:ext cx="3810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9549" y="3057525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C8A86B"/>
                </a:solidFill>
                <a:latin typeface="Poppins SemiBold"/>
              </a:rPr>
              <a:t>Backend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123950"/>
            <a:ext cx="11029950" cy="9525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95587"/>
            <a:ext cx="5372100" cy="2200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795587"/>
            <a:ext cx="5372100" cy="2200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9150" y="3033712"/>
            <a:ext cx="514064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8A86B"/>
                </a:solidFill>
                <a:latin typeface="Poppins SemiBold"/>
              </a:rPr>
              <a:t>Core Schema Entities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0" y="3033712"/>
            <a:ext cx="514064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8A86B"/>
                </a:solidFill>
                <a:latin typeface="Poppins SemiBold"/>
              </a:rPr>
              <a:t>Enrichment Data Entities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" y="3443287"/>
            <a:ext cx="46291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D8CBB8"/>
                </a:solidFill>
                <a:latin typeface="Inter"/>
              </a:rPr>
              <a:t>Users:</a:t>
            </a:r>
            <a:r>
              <a:rPr sz="1125" b="0" i="0" u="none">
                <a:solidFill>
                  <a:srgbClr val="D8CBB8"/>
                </a:solidFill>
                <a:latin typeface="Inter"/>
              </a:rPr>
              <a:t> Authentication details and profile settings.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5850" y="3771900"/>
            <a:ext cx="46291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D8CBB8"/>
                </a:solidFill>
                <a:latin typeface="Inter"/>
              </a:rPr>
              <a:t>Trips:</a:t>
            </a:r>
            <a:r>
              <a:rPr sz="1125" b="0" i="0" u="none">
                <a:solidFill>
                  <a:srgbClr val="D8CBB8"/>
                </a:solidFill>
                <a:latin typeface="Inter"/>
              </a:rPr>
              <a:t> Primary entity storing destination, dates, and budget.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4100512"/>
            <a:ext cx="46291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D8CBB8"/>
                </a:solidFill>
                <a:latin typeface="Inter"/>
              </a:rPr>
              <a:t>Itinerary:</a:t>
            </a:r>
            <a:r>
              <a:rPr sz="1125" b="0" i="0" u="none">
                <a:solidFill>
                  <a:srgbClr val="D8CBB8"/>
                </a:solidFill>
                <a:latin typeface="Inter"/>
              </a:rPr>
              <a:t> Day-wise scheduled activities and timeline nodes.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" y="4429125"/>
            <a:ext cx="46291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D8CBB8"/>
                </a:solidFill>
                <a:latin typeface="Inter"/>
              </a:rPr>
              <a:t>Expenses:</a:t>
            </a:r>
            <a:r>
              <a:rPr sz="1125" b="0" i="0" u="none">
                <a:solidFill>
                  <a:srgbClr val="D8CBB8"/>
                </a:solidFill>
                <a:latin typeface="Inter"/>
              </a:rPr>
              <a:t> Transaction logs linked to budgets and categories.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3700" y="3443287"/>
            <a:ext cx="46291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D8CBB8"/>
                </a:solidFill>
                <a:latin typeface="Inter"/>
              </a:rPr>
              <a:t>Places:</a:t>
            </a:r>
            <a:r>
              <a:rPr sz="1125" b="0" i="0" u="none">
                <a:solidFill>
                  <a:srgbClr val="D8CBB8"/>
                </a:solidFill>
                <a:latin typeface="Inter"/>
              </a:rPr>
              <a:t> AI &amp; Google Maps geocoded location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3700" y="3771900"/>
            <a:ext cx="46291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D8CBB8"/>
                </a:solidFill>
                <a:latin typeface="Inter"/>
              </a:rPr>
              <a:t>Hotels:</a:t>
            </a:r>
            <a:r>
              <a:rPr sz="1125" b="0" i="0" u="none">
                <a:solidFill>
                  <a:srgbClr val="D8CBB8"/>
                </a:solidFill>
                <a:latin typeface="Inter"/>
              </a:rPr>
              <a:t> Accommodation references and booking status.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3700" y="4100512"/>
            <a:ext cx="46291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D8CBB8"/>
                </a:solidFill>
                <a:latin typeface="Inter"/>
              </a:rPr>
              <a:t>Reviews:</a:t>
            </a:r>
            <a:r>
              <a:rPr sz="1125" b="0" i="0" u="none">
                <a:solidFill>
                  <a:srgbClr val="D8CBB8"/>
                </a:solidFill>
                <a:latin typeface="Inter"/>
              </a:rPr>
              <a:t> User ratings and community feedback.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3700" y="4429125"/>
            <a:ext cx="46291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D8CBB8"/>
                </a:solidFill>
                <a:latin typeface="Inter"/>
              </a:rPr>
              <a:t>Memories:</a:t>
            </a:r>
            <a:r>
              <a:rPr sz="1125" b="0" i="0" u="none">
                <a:solidFill>
                  <a:srgbClr val="D8CBB8"/>
                </a:solidFill>
                <a:latin typeface="Inter"/>
              </a:rPr>
              <a:t> Media assets and travel diary entries.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3443287"/>
            <a:ext cx="114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8A86B"/>
                </a:solidFill>
                <a:latin typeface="Inter"/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3771900"/>
            <a:ext cx="114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8A86B"/>
                </a:solidFill>
                <a:latin typeface="Inter"/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" y="4100512"/>
            <a:ext cx="114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8A86B"/>
                </a:solidFill>
                <a:latin typeface="Inter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4429125"/>
            <a:ext cx="114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8A86B"/>
                </a:solidFill>
                <a:latin typeface="Inter"/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0" y="3443287"/>
            <a:ext cx="114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8A86B"/>
                </a:solidFill>
                <a:latin typeface="Inter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3771900"/>
            <a:ext cx="114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8A86B"/>
                </a:solidFill>
                <a:latin typeface="Inter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0" y="4100512"/>
            <a:ext cx="114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8A86B"/>
                </a:solidFill>
                <a:latin typeface="Inter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0" y="4429125"/>
            <a:ext cx="114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8A86B"/>
                </a:solidFill>
                <a:latin typeface="Inter"/>
              </a:rPr>
              <a:t>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025" y="485775"/>
            <a:ext cx="11581447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C8A86B"/>
                </a:solidFill>
                <a:latin typeface="Poppins SemiBold"/>
              </a:rPr>
              <a:t>Database Entity Design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1025" y="1123950"/>
            <a:ext cx="11029950" cy="9525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990" y="1609725"/>
            <a:ext cx="8823870" cy="466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990" y="2581275"/>
            <a:ext cx="8823870" cy="466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3990" y="4743450"/>
            <a:ext cx="8823870" cy="466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3990" y="5715000"/>
            <a:ext cx="8823870" cy="4667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552825"/>
            <a:ext cx="5419725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3552825"/>
            <a:ext cx="5419725" cy="685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9325" y="2247900"/>
            <a:ext cx="1333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9325" y="3219450"/>
            <a:ext cx="1333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9325" y="4410075"/>
            <a:ext cx="1333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9325" y="5381625"/>
            <a:ext cx="13335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485775"/>
            <a:ext cx="11581447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C8A86B"/>
                </a:solidFill>
                <a:latin typeface="Poppins SemiBold"/>
              </a:rPr>
              <a:t>End-to-End Request 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1123950"/>
            <a:ext cx="11029950" cy="9525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90762"/>
            <a:ext cx="53721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290762"/>
            <a:ext cx="537210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1881187"/>
            <a:ext cx="564070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8A86B"/>
                </a:solidFill>
                <a:latin typeface="Poppins SemiBold"/>
              </a:rPr>
              <a:t>Frontend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8875" y="1881187"/>
            <a:ext cx="564070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8A86B"/>
                </a:solidFill>
                <a:latin typeface="Poppins SemiBold"/>
              </a:rPr>
              <a:t>Backend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471737"/>
            <a:ext cx="50101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8A86B"/>
                </a:solidFill>
                <a:latin typeface="Fira Code SemiBold"/>
              </a:rPr>
              <a:t>frontend/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657475"/>
            <a:ext cx="50101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8CBB8"/>
                </a:solidFill>
                <a:latin typeface="Fira Code"/>
              </a:rPr>
              <a:t>├── src/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843212"/>
            <a:ext cx="50101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8CBB8"/>
                </a:solidFill>
                <a:latin typeface="Fira Code"/>
              </a:rPr>
              <a:t>│ ├── components/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028950"/>
            <a:ext cx="50101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8CBB8"/>
                </a:solidFill>
                <a:latin typeface="Fira Code"/>
              </a:rPr>
              <a:t>│ ├── pages/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214687"/>
            <a:ext cx="50101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8CBB8"/>
                </a:solidFill>
                <a:latin typeface="Fira Code"/>
              </a:rPr>
              <a:t>│ ├── services/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400425"/>
            <a:ext cx="50101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8CBB8"/>
                </a:solidFill>
                <a:latin typeface="Fira Code"/>
              </a:rPr>
              <a:t>│ ├── hooks/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586162"/>
            <a:ext cx="50101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8CBB8"/>
                </a:solidFill>
                <a:latin typeface="Fira Code"/>
              </a:rPr>
              <a:t>│ ├── context/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771900"/>
            <a:ext cx="50101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8CBB8"/>
                </a:solidFill>
                <a:latin typeface="Fira Code"/>
              </a:rPr>
              <a:t>│ └── utils/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957637"/>
            <a:ext cx="50101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8CBB8"/>
                </a:solidFill>
                <a:latin typeface="Fira Code"/>
              </a:rPr>
              <a:t>└── package.json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2471737"/>
            <a:ext cx="50101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8A86B"/>
                </a:solidFill>
                <a:latin typeface="Fira Code SemiBold"/>
              </a:rPr>
              <a:t>backend/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850" y="2657475"/>
            <a:ext cx="50101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8CBB8"/>
                </a:solidFill>
                <a:latin typeface="Fira Code"/>
              </a:rPr>
              <a:t>├── controller/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850" y="2843212"/>
            <a:ext cx="50101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8CBB8"/>
                </a:solidFill>
                <a:latin typeface="Fira Code"/>
              </a:rPr>
              <a:t>├── service/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850" y="3028950"/>
            <a:ext cx="50101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8CBB8"/>
                </a:solidFill>
                <a:latin typeface="Fira Code"/>
              </a:rPr>
              <a:t>├── repository/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850" y="3214687"/>
            <a:ext cx="50101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8CBB8"/>
                </a:solidFill>
                <a:latin typeface="Fira Code"/>
              </a:rPr>
              <a:t>├── entity/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850" y="3400425"/>
            <a:ext cx="50101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8CBB8"/>
                </a:solidFill>
                <a:latin typeface="Fira Code"/>
              </a:rPr>
              <a:t>├── dto/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850" y="3586162"/>
            <a:ext cx="50101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8CBB8"/>
                </a:solidFill>
                <a:latin typeface="Fira Code"/>
              </a:rPr>
              <a:t>├── security/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850" y="3771900"/>
            <a:ext cx="50101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D8CBB8"/>
                </a:solidFill>
                <a:latin typeface="Fira Code"/>
              </a:rPr>
              <a:t>└── config/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025" y="485775"/>
            <a:ext cx="11581447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C8A86B"/>
                </a:solidFill>
                <a:latin typeface="Poppins SemiBold"/>
              </a:rPr>
              <a:t>Project Directory Structure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1025" y="1123950"/>
            <a:ext cx="11029950" cy="9525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8337"/>
            <a:ext cx="3581400" cy="1885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1938337"/>
            <a:ext cx="3581400" cy="1885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9575" y="1938337"/>
            <a:ext cx="3581400" cy="1885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967162"/>
            <a:ext cx="3581400" cy="1885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3967162"/>
            <a:ext cx="3581400" cy="1885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9575" y="3967162"/>
            <a:ext cx="3581400" cy="1885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9150" y="2605087"/>
            <a:ext cx="326040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8A86B"/>
                </a:solidFill>
                <a:latin typeface="Poppins SemiBold"/>
              </a:rPr>
              <a:t>1.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3014662"/>
            <a:ext cx="3105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D8CBB8"/>
                </a:solidFill>
                <a:latin typeface="Inter"/>
              </a:rPr>
              <a:t>Specifying user stories and system boundaries.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3425" y="2605087"/>
            <a:ext cx="326040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8A86B"/>
                </a:solidFill>
                <a:latin typeface="Poppins SemiBold"/>
              </a:rPr>
              <a:t>2. UI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3425" y="3014662"/>
            <a:ext cx="3105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D8CBB8"/>
                </a:solidFill>
                <a:latin typeface="Inter"/>
              </a:rPr>
              <a:t>Wireframing frontend screens and component layout.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7700" y="2328862"/>
            <a:ext cx="326040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8A86B"/>
                </a:solidFill>
                <a:latin typeface="Poppins SemiBold"/>
              </a:rPr>
              <a:t>3. API &amp;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7700" y="2738437"/>
            <a:ext cx="3105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D8CBB8"/>
                </a:solidFill>
                <a:latin typeface="Inter"/>
              </a:rPr>
              <a:t>Building MySQL entities and Spring REST controllers.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4633912"/>
            <a:ext cx="326040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8A86B"/>
                </a:solidFill>
                <a:latin typeface="Poppins SemiBold"/>
              </a:rPr>
              <a:t>4. Integrations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5043487"/>
            <a:ext cx="3105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D8CBB8"/>
                </a:solidFill>
                <a:latin typeface="Inter"/>
              </a:rPr>
              <a:t>Connecting Gemini AI models &amp; Google Maps API.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3425" y="4633912"/>
            <a:ext cx="326040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8A86B"/>
                </a:solidFill>
                <a:latin typeface="Poppins SemiBold"/>
              </a:rPr>
              <a:t>5.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3425" y="5043487"/>
            <a:ext cx="3105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D8CBB8"/>
                </a:solidFill>
                <a:latin typeface="Inter"/>
              </a:rPr>
              <a:t>Unit, integration, and security verification.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7700" y="4633912"/>
            <a:ext cx="326040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8A86B"/>
                </a:solidFill>
                <a:latin typeface="Poppins SemiBold"/>
              </a:rPr>
              <a:t>6.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7700" y="5043487"/>
            <a:ext cx="3105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D8CBB8"/>
                </a:solidFill>
                <a:latin typeface="Inter"/>
              </a:rPr>
              <a:t>CI/CD pipeline execution and production hosting.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195512"/>
            <a:ext cx="228600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3425" y="2195512"/>
            <a:ext cx="228600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4224337"/>
            <a:ext cx="171450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3425" y="4224337"/>
            <a:ext cx="228600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7700" y="4224337"/>
            <a:ext cx="228600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81025" y="485775"/>
            <a:ext cx="11581447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C8A86B"/>
                </a:solidFill>
                <a:latin typeface="Poppins SemiBold"/>
              </a:rPr>
              <a:t>Development Workflow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1025" y="1123950"/>
            <a:ext cx="11029950" cy="9525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3722340"/>
            <a:ext cx="1143000" cy="19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074765"/>
            <a:ext cx="11029950" cy="428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5276" y="2354609"/>
            <a:ext cx="11581447" cy="70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sz="4800" b="0" i="0" u="none">
                <a:solidFill>
                  <a:srgbClr val="C8A86B"/>
                </a:solidFill>
                <a:latin typeface="Poppins SemiBold"/>
              </a:rPr>
              <a:t>Questions &amp;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198465"/>
            <a:ext cx="110299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D8CBB8"/>
                </a:solidFill>
                <a:latin typeface="Inter"/>
              </a:rPr>
              <a:t>Technical Architecture Specification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0" y="4322415"/>
            <a:ext cx="1809750" cy="180975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5F1E8"/>
                </a:solidFill>
                <a:latin typeface="Fira Code"/>
              </a:rPr>
              <a:t> github.com/repository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50" y="4322415"/>
            <a:ext cx="1257300" cy="180975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5F1E8"/>
                </a:solidFill>
                <a:latin typeface="Fira Code"/>
              </a:rPr>
              <a:t>v1.0.0-release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7050" y="4322415"/>
            <a:ext cx="2266950" cy="180975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5F1E8"/>
                </a:solidFill>
                <a:latin typeface="Fira Code"/>
              </a:rPr>
              <a:t>dev-team@travelcompanion.ai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0" y="4341465"/>
            <a:ext cx="13335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0" y="4341465"/>
            <a:ext cx="114300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7050" y="4341465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987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31458" y="3664743"/>
            <a:ext cx="6993654" cy="415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8000" dirty="0">
                <a:solidFill>
                  <a:srgbClr val="D8CBB8"/>
                </a:solidFill>
                <a:latin typeface="Inter"/>
              </a:rPr>
              <a:t>THANK-YOU</a:t>
            </a:r>
            <a:endParaRPr lang="en-US" sz="8000" b="0" i="0" u="none" dirty="0">
              <a:solidFill>
                <a:srgbClr val="D8CBB8"/>
              </a:solidFill>
              <a:latin typeface="Inter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1025" y="1123950"/>
            <a:ext cx="11029950" cy="9525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803</Words>
  <Application>Microsoft Office PowerPoint</Application>
  <PresentationFormat>Widescreen</PresentationFormat>
  <Paragraphs>141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Fira Code</vt:lpstr>
      <vt:lpstr>Fira Code SemiBold</vt:lpstr>
      <vt:lpstr>Inter</vt:lpstr>
      <vt:lpstr>Inter Light</vt:lpstr>
      <vt:lpstr>Inter SemiBold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maheen fatima</cp:lastModifiedBy>
  <cp:revision>2</cp:revision>
  <dcterms:created xsi:type="dcterms:W3CDTF">2013-01-27T09:14:16Z</dcterms:created>
  <dcterms:modified xsi:type="dcterms:W3CDTF">2026-08-06T15:07:38Z</dcterms:modified>
  <cp:category/>
</cp:coreProperties>
</file>