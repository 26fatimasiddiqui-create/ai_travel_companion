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92524"/>
                </a:solidFill>
              </a:defRPr>
            </a:pPr>
            <a:r>
              <a:t>AI TRAVEL COMPANION</a:t>
            </a:r>
          </a:p>
          <a:p>
            <a:pPr>
              <a:spcBef>
                <a:spcPts val="1000"/>
              </a:spcBef>
              <a:defRPr sz="1800" i="1">
                <a:solidFill>
                  <a:srgbClr val="C85A32"/>
                </a:solidFill>
              </a:defRPr>
            </a:pPr>
            <a:r>
              <a:t>A Live, Intelligent Travel Assistant That Plans, Adapts, and Reacts in Real Time</a:t>
            </a:r>
          </a:p>
          <a:p>
            <a:pPr>
              <a:spcBef>
                <a:spcPts val="1500"/>
              </a:spcBef>
              <a:defRPr sz="1300">
                <a:solidFill>
                  <a:srgbClr val="78716C"/>
                </a:solidFill>
              </a:defRPr>
            </a:pPr>
            <a:r>
              <a:t>Full-Stack Web Engineering Spec &amp; Live Demonstration • Hackathon Presentation</a:t>
            </a:r>
          </a:p>
          <a:p>
            <a:pPr>
              <a:spcBef>
                <a:spcPts val="800"/>
              </a:spcBef>
              <a:defRPr sz="1200" b="1">
                <a:solidFill>
                  <a:srgbClr val="688464"/>
                </a:solidFill>
              </a:defRPr>
            </a:pPr>
            <a:r>
              <a:t>Tech Stack: React.js • Spring Boot 3 (Java 21) • MySQL • JWT • Contextual AI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5943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300">
                <a:solidFill>
                  <a:srgbClr val="292524"/>
                </a:solidFill>
              </a:defRPr>
            </a:pPr>
            <a:r>
              <a:t>Project By: Maheen Fatima</a:t>
            </a:r>
          </a:p>
          <a:p>
            <a:pPr>
              <a:defRPr sz="1000">
                <a:solidFill>
                  <a:srgbClr val="C85A32"/>
                </a:solidFill>
              </a:defRPr>
            </a:pPr>
            <a:r>
              <a:t>GitHub: github.com/26fatimasiddiqui-create/ai_travel_companion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THE FUNDAMENTAL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Travel Apps Stop Working the Moment Your Trip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Traditional planning tools are static checklists — unequipped for unpredictable travel realities.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2000" b="1">
                <a:solidFill>
                  <a:srgbClr val="C85A32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 b="1">
                <a:solidFill>
                  <a:srgbClr val="292524"/>
                </a:solidFill>
              </a:defRPr>
            </a:pPr>
            <a:r>
              <a:t>Static, Fragile Itineraries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A fixed PDF or checklist created weeks prior to departure. When sudden rain occurs, the app continues directing travelers to open-air parks with zero proactive alternatives.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109728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2000" b="1">
                <a:solidFill>
                  <a:srgbClr val="688464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 b="1">
                <a:solidFill>
                  <a:srgbClr val="292524"/>
                </a:solidFill>
              </a:defRPr>
            </a:pPr>
            <a:r>
              <a:t>Blind to Live Operational Reality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Monument ticket booths closing in 45 minutes, unexpected traffic gridlocks on key avenues, or surging peak tourist queues are completely ignored until travelers arrive at locked gates.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383280" cy="109728"/>
          </a:xfrm>
          <a:prstGeom prst="rect">
            <a:avLst/>
          </a:prstGeom>
          <a:solidFill>
            <a:srgbClr val="68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2000" b="1">
                <a:solidFill>
                  <a:srgbClr val="292524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 b="1">
                <a:solidFill>
                  <a:srgbClr val="292524"/>
                </a:solidFill>
              </a:defRPr>
            </a:pPr>
            <a:r>
              <a:t>Disconnected from Travelers' Reality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One-size-fits-all tourist lists that ignore individual energy, emotional mood, physical mobility needs (wheelchair/senior), and real-time wallet exhaustion.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828800"/>
            <a:ext cx="3383280" cy="109728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From Rigid Static Itinerary to an Active Living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Direct comparative analysis of traveler experience in typical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4EFEA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300" b="1">
                <a:solidFill>
                  <a:srgbClr val="78716C"/>
                </a:solidFill>
              </a:defRPr>
            </a:pPr>
            <a:r>
              <a:t>TRADITIONAL TRAVEL PLATFORMS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✕  Rigid Fixed Schedule: 'Visit monument at 2:00 PM' regardless of weather.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✕  Zero Budget Awareness: Allows travelers to unknowingly blow their budget on day 1.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✕  Ignores Mood: Forces identical historical itineraries whether feeling adventurous or fatigued.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✕  Post-Trip Disconnect: Leaves users with disconnected photo galleries and lost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300" b="1">
                <a:solidFill>
                  <a:srgbClr val="C85A32"/>
                </a:solidFill>
              </a:defRPr>
            </a:pPr>
            <a:r>
              <a:t>AI TRAVEL COMPANION (OUR SYSTEM)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✓  Live Situational Reactivity: Detects rain and dynamically suggests covered havelis nearby.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✓  Proactive Budget Optimization: Real-time ledger balances spending and injects cheaper stops.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✓  Dynamic Mood Alignment: 7 distinct travel moods recalibrate stops, meals, and exploration pacing.</a:t>
            </a:r>
          </a:p>
          <a:p>
            <a:pPr>
              <a:spcBef>
                <a:spcPts val="1400"/>
              </a:spcBef>
              <a:defRPr sz="1100">
                <a:solidFill>
                  <a:srgbClr val="292524"/>
                </a:solidFill>
              </a:defRPr>
            </a:pPr>
            <a:r>
              <a:t>✓  Continuous Timeline Preview: Minute-by-minute day simulation eliminates all 'what-if' anxiety.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★ FLAGSHIP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Live AI Travel Companion: Real-Time Situational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An intelligent copilot watching the clock, meteorological sensors, and wallet simultaneously.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900" b="1">
                <a:solidFill>
                  <a:srgbClr val="C85A32"/>
                </a:solidFill>
              </a:defRPr>
            </a:pPr>
            <a:r>
              <a:t>WEATHER TRIGGER</a:t>
            </a:r>
          </a:p>
          <a:p>
            <a:pPr>
              <a:defRPr sz="1300" b="1">
                <a:solidFill>
                  <a:srgbClr val="292524"/>
                </a:solidFill>
              </a:defRPr>
            </a:pPr>
            <a:r>
              <a:t>Passing Rain Detected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</a:defRPr>
            </a:pPr>
            <a:r>
              <a:t>Weather sensor detects 80% rain probability near Hawa Mahal. Swaps outdoor promenade for sheltered Indo-Saracenic galleries at Albert Hall Museum 6 minutes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900" b="1">
                <a:solidFill>
                  <a:srgbClr val="C85A32"/>
                </a:solidFill>
              </a:defRPr>
            </a:pPr>
            <a:r>
              <a:t>TIMING TRIGGER</a:t>
            </a:r>
          </a:p>
          <a:p>
            <a:pPr>
              <a:defRPr sz="1300" b="1">
                <a:solidFill>
                  <a:srgbClr val="292524"/>
                </a:solidFill>
              </a:defRPr>
            </a:pPr>
            <a:r>
              <a:t>Attraction Closing in 45 Min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</a:defRPr>
            </a:pPr>
            <a:r>
              <a:t>City Palace ticket counters close at 5:00 PM. Companion alerts traveler to enter royal galleries now and postpone the rooftop coffee break to 5:30 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900" b="1">
                <a:solidFill>
                  <a:srgbClr val="C85A32"/>
                </a:solidFill>
              </a:defRPr>
            </a:pPr>
            <a:r>
              <a:t>TRANSIT TRIGGER</a:t>
            </a:r>
          </a:p>
          <a:p>
            <a:pPr>
              <a:defRPr sz="1300" b="1">
                <a:solidFill>
                  <a:srgbClr val="292524"/>
                </a:solidFill>
              </a:defRPr>
            </a:pPr>
            <a:r>
              <a:t>Traffic Bottleneck Bypass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</a:defRPr>
            </a:pPr>
            <a:r>
              <a:t>Severe road congestion detected near Ajmeri Gate. Recommends Jaipur Pink Metro Line 1 at Chandpole Station, saving 22 minutes of transit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900" b="1">
                <a:solidFill>
                  <a:srgbClr val="C85A32"/>
                </a:solidFill>
              </a:defRPr>
            </a:pPr>
            <a:r>
              <a:t>BUDGET TRIGGER</a:t>
            </a:r>
          </a:p>
          <a:p>
            <a:pPr>
              <a:defRPr sz="1300" b="1">
                <a:solidFill>
                  <a:srgbClr val="292524"/>
                </a:solidFill>
              </a:defRPr>
            </a:pPr>
            <a:r>
              <a:t>Budget Threshold Alert</a:t>
            </a:r>
          </a:p>
          <a:p>
            <a:pPr>
              <a:spcBef>
                <a:spcPts val="400"/>
              </a:spcBef>
              <a:defRPr sz="1000">
                <a:solidFill>
                  <a:srgbClr val="78716C"/>
                </a:solidFill>
              </a:defRPr>
            </a:pPr>
            <a:r>
              <a:t>Itinerary costs approach the ₹5,000 budget cap. Automatically replaces expensive fine-dining dinner with authentic 4.8-star heritage courtyard thali, saving ₹850.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8464"/>
                </a:solidFill>
              </a:defRPr>
            </a:pPr>
            <a:r>
              <a:t>Transparent Traveler Controls: [Accept Recommendation] updates route • [Keep Current] dismisses • [Ask AI Why] provides full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★ SIGNATURE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AI Trip Simulation: Minute-by-Minute Day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Preview the entire day before stepping foot outside the hotel lobby.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5A32"/>
                </a:solidFill>
              </a:defRPr>
            </a:pPr>
            <a:r>
              <a:t>CONFIDENCE OVER ANXIETY</a:t>
            </a:r>
          </a:p>
          <a:p>
            <a:pPr>
              <a:spcBef>
                <a:spcPts val="1200"/>
              </a:spcBef>
              <a:defRPr sz="1100">
                <a:solidFill>
                  <a:srgbClr val="292524"/>
                </a:solidFill>
              </a:defRPr>
            </a:pPr>
            <a:r>
              <a:t>• Realistic Transitions: Calculates actual door-to-door transit, walking buffers, and crowd queuing windows.</a:t>
            </a:r>
          </a:p>
          <a:p>
            <a:pPr>
              <a:spcBef>
                <a:spcPts val="1200"/>
              </a:spcBef>
              <a:defRPr sz="1100">
                <a:solidFill>
                  <a:srgbClr val="292524"/>
                </a:solidFill>
              </a:defRPr>
            </a:pPr>
            <a:r>
              <a:t>• Interactive Timeline Scrubber: Play, pause, or step forward through the day with real-time cost and crowd gauges.</a:t>
            </a:r>
          </a:p>
          <a:p>
            <a:pPr>
              <a:spcBef>
                <a:spcPts val="1200"/>
              </a:spcBef>
              <a:defRPr sz="1100">
                <a:solidFill>
                  <a:srgbClr val="292524"/>
                </a:solidFill>
              </a:defRPr>
            </a:pPr>
            <a:r>
              <a:t>• Atmosphere Synchronization: Displays temperature, humidity, and sun exposure warnings for every stop.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6583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defRPr sz="1100" b="1">
                <a:solidFill>
                  <a:srgbClr val="688464"/>
                </a:solidFill>
              </a:defRPr>
            </a:pPr>
            <a:r>
              <a:t>DAY 1 BENCHMARK SIMULATION SEQUENCE (JAIPUR)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[08:30 AM]  Depart Hotel  (₹0)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Heritage Haveli Lobby — Morning prep, hydration &amp; metro card check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[09:00 AM]  Hawa Mahal (Palace of Winds)  (₹100)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90 mins duration — Early arrival ensures uncrowded facade &amp; courtyard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[10:35 AM]  Scenic Shaded Walk to City Palace  (Free)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5 mins transit — Pedestrian pink stone corridor avoiding midday sun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[12:15 PM]  Traditional Thali Lunch  (₹350)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LMB Sweets Johari Bazaar — Air-conditioned indoor dining &amp; local delicacies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[01:30 PM]  Jantar Mantar Royal Observatory  (₹200)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Astronomical UNESCO heritage site with audio tour</a:t>
            </a:r>
          </a:p>
          <a:p>
            <a:pPr>
              <a:spcBef>
                <a:spcPts val="800"/>
              </a:spcBef>
              <a:defRPr sz="1000" b="1">
                <a:solidFill>
                  <a:srgbClr val="C85A32"/>
                </a:solidFill>
              </a:defRPr>
            </a:pPr>
            <a:r>
              <a:t>[04:00 PM]  Pink Metro Return Ahead of Rush Hour  (₹30)</a:t>
            </a:r>
          </a:p>
          <a:p>
            <a:pPr>
              <a:defRPr sz="900">
                <a:solidFill>
                  <a:srgbClr val="78716C"/>
                </a:solidFill>
              </a:defRPr>
            </a:pPr>
            <a:r>
              <a:t>   ↳ Air-conditioned metro transit back to residence before traffic peak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INTELLIGENT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Mood-Based Travel Planning &amp; AI Budget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Dynamic behavioral adaptation and continuous financial protection.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C85A32"/>
                </a:solidFill>
              </a:defRPr>
            </a:pPr>
            <a:r>
              <a:t>7 DYNAMIC MOOD PROFILES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Relaxed: Slow morning pacing, shaded haveli courtyards, calm garden tea.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Adventure: Aravalli hilltop fort hikes, outdoor stepwell exploration, brisk transit.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Romantic: Sunset viewpoints over Nahargarh, intimate rooftop candlelit dining.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Photography: Golden-hour facade timing at sunrise, geometric stepwell shadows.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Food Lover: Centuries-old artisan sweet shops, street kachoris, spice markets.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Family &amp; Solo: Safe pedestrian verandas, stroller-friendly paths, verified social cafes.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688464"/>
                </a:solidFill>
              </a:defRPr>
            </a:pPr>
            <a:r>
              <a:t>AI BUDGET OPTIMIZER &amp; LEDGER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Total Allocation: ₹5,000 strictly controlled cap for the 3-day Jaipur journey.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Multi-Category Tracking: Categorized under Hotel, Food, Transport, Tickets, Emergency, Other.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Automated Threshold Alert: Triggers immediate savings suggestions if projected cost &gt; 85% of budget.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Smart Substitutions: Recommends Rajasthan Department Composite Pass (saves ₹700) and Pink Metro instead of chauffeur cabs (saves ₹1,850).</a:t>
            </a:r>
          </a:p>
          <a:p>
            <a:pPr>
              <a:spcBef>
                <a:spcPts val="800"/>
              </a:spcBef>
              <a:defRPr sz="1000">
                <a:solidFill>
                  <a:srgbClr val="292524"/>
                </a:solidFill>
              </a:defRPr>
            </a:pPr>
            <a:r>
              <a:t>• Live Expense Logging: Travelers record transactions on the go with automatic remaining recalculations.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ENGINEERING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Multi-Tiered Full-Stack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Decoupled client-server architecture with Spring Boot 3, React, and context-aware AI services.</a:t>
            </a:r>
          </a:p>
        </p:txBody>
      </p:sp>
      <p:pic>
        <p:nvPicPr>
          <p:cNvPr id="5" name="Picture 4" descr="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64592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C85A32"/>
                </a:solidFill>
              </a:defRPr>
            </a:pPr>
            <a:r>
              <a:t>ARCHITECTURE SPECIFICATIONS</a:t>
            </a:r>
          </a:p>
          <a:p>
            <a:pPr>
              <a:spcBef>
                <a:spcPts val="600"/>
              </a:spcBef>
              <a:defRPr sz="900">
                <a:solidFill>
                  <a:srgbClr val="292524"/>
                </a:solidFill>
              </a:defRPr>
            </a:pPr>
            <a:r>
              <a:t>Frontend Tier: React 18, Tailwind CSS, Axios, Context API, React-Leaflet Maps. Earthy palette with zero purple/blue.</a:t>
            </a:r>
          </a:p>
          <a:p>
            <a:pPr>
              <a:spcBef>
                <a:spcPts val="600"/>
              </a:spcBef>
              <a:defRPr sz="900">
                <a:solidFill>
                  <a:srgbClr val="292524"/>
                </a:solidFill>
              </a:defRPr>
            </a:pPr>
            <a:r>
              <a:t>Backend Tier: Spring Boot 3.3.3, Java 21 LTS, Spring Security 6, JWT stateless authentication, REST Controllers.</a:t>
            </a:r>
          </a:p>
          <a:p>
            <a:pPr>
              <a:spcBef>
                <a:spcPts val="600"/>
              </a:spcBef>
              <a:defRPr sz="900">
                <a:solidFill>
                  <a:srgbClr val="292524"/>
                </a:solidFill>
              </a:defRPr>
            </a:pPr>
            <a:r>
              <a:t>Persistence Tier: MySQL 8.0 ACID compliance + H2 fallback profile. 12 JPA Entities &amp; Hibernate ddl-auto.</a:t>
            </a:r>
          </a:p>
          <a:p>
            <a:pPr>
              <a:spcBef>
                <a:spcPts val="600"/>
              </a:spcBef>
              <a:defRPr sz="900">
                <a:solidFill>
                  <a:srgbClr val="292524"/>
                </a:solidFill>
              </a:defRPr>
            </a:pPr>
            <a:r>
              <a:t>Intelligence Tier: Gemini AI Engine + Resilient Local Heuristic AI fallback planner.</a:t>
            </a:r>
          </a:p>
          <a:p>
            <a:pPr>
              <a:spcBef>
                <a:spcPts val="600"/>
              </a:spcBef>
              <a:defRPr sz="900">
                <a:solidFill>
                  <a:srgbClr val="292524"/>
                </a:solidFill>
              </a:defRPr>
            </a:pPr>
            <a:r>
              <a:t>External Services: Open-Meteo REST API (real-time keyless weather) &amp; CartoDB tiles.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INCLUSIVITY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Accessibility Mode, AI Safety Score &amp; Hidden Gems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Designed for every category of traveler — solo women, families, and seniors.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C85A32"/>
                </a:solidFill>
              </a:defRPr>
            </a:pPr>
            <a:r>
              <a:t>Hidden Gems Discovery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Surfaces secret local spots that guidebooks miss: 16th-century Panna Meena Stepwell, Anokhi Hand Block Printing Haveli, Gaitore Ki Chhatriyan marble cenotaphs, and Nahargarh Padao sunset ridge.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688464"/>
                </a:solidFill>
              </a:defRPr>
            </a:pPr>
            <a:r>
              <a:t>First-Class Accessibility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Wheelchair, Senior Citizen, and Stroller profiles. Routes prioritize ramp-equipped entrances, step-free monument courtyards, elevators, and direct vehicle drop plazas.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383280" cy="109728"/>
          </a:xfrm>
          <a:prstGeom prst="rect">
            <a:avLst/>
          </a:prstGeom>
          <a:solidFill>
            <a:srgbClr val="68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292524"/>
                </a:solidFill>
              </a:defRPr>
            </a:pPr>
            <a:r>
              <a:t>AI Safety Score &amp; Dispatch</a:t>
            </a:r>
          </a:p>
          <a:p>
            <a:pPr>
              <a:spcBef>
                <a:spcPts val="1200"/>
              </a:spcBef>
              <a:defRPr sz="1100">
                <a:solidFill>
                  <a:srgbClr val="78716C"/>
                </a:solidFill>
              </a:defRPr>
            </a:pPr>
            <a:r>
              <a:t>Geofenced 88/100 rating based on street lighting and foot traffic. One-tap emergency dispatch: National Emergency (112), Police (100), Ambulance (102), Women Helpline (1091), Tourist Helpline (1363).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45920"/>
            <a:ext cx="3383280" cy="109728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COLLABORATIVE TRAVEL &amp;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Travel Together Planner &amp; Memory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Resolving friend group planning conflicts and preserving lasting memories.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C85A32"/>
                </a:solidFill>
              </a:defRPr>
            </a:pPr>
            <a:r>
              <a:t>TRAVEL TOGETHER PLANNER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Group Invite Code: Generates shareable alphanumeric code (e.g. GRP-A9F2B1).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Democratic Preference Voting: Each member votes for favorite places, activities, and budget limits.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AI Compromise Synthesis: Reconciles conflicting votes into a harmonious shared itinerary.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Automatic Expense Split: Evenly divides total estimated trip costs per member (₹1,667 / person).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688464"/>
                </a:solidFill>
              </a:defRPr>
            </a:pPr>
            <a:r>
              <a:t>MEMORY TIMELINE &amp; SMART PACKING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Digital Travel Journal: Log visited attractions, photo URLs, visit dates, reflections, and costs.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Emotional Memory Tags: Tag entries as Joyful, Peaceful, Adventurous, or Delicious.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Smart Weather Packing List: Dynamically generated from live forecasts, length of stay, and scheduled activities.</a:t>
            </a:r>
          </a:p>
          <a:p>
            <a:pPr>
              <a:spcBef>
                <a:spcPts val="1000"/>
              </a:spcBef>
              <a:defRPr sz="1000">
                <a:solidFill>
                  <a:srgbClr val="292524"/>
                </a:solidFill>
              </a:defRPr>
            </a:pPr>
            <a:r>
              <a:t>• Interactive Checkpoints: Check/uncheck items, add custom gear, and delete packed entries.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LIVE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Production UI &amp; Dashboard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Earthy aesthetic built for extended comfort, clarity, and zero cognitive overload.</a:t>
            </a:r>
          </a:p>
        </p:txBody>
      </p:sp>
      <p:pic>
        <p:nvPicPr>
          <p:cNvPr id="5" name="Picture 4" descr="dashboard_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85A32"/>
                </a:solidFill>
              </a:defRPr>
            </a:pPr>
            <a:r>
              <a:t>LIVE VALIDATION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92524"/>
                </a:solidFill>
              </a:defRPr>
            </a:pPr>
            <a:r>
              <a:t>Ready-to-Demo Benchmark Journey (Jaipur, India)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16C"/>
                </a:solidFill>
              </a:defRPr>
            </a:pPr>
            <a:r>
              <a:t>Complete 3-day cultural odyssey with pre-seeded data, active alerts, and live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C85A32"/>
                </a:solidFill>
              </a:defRPr>
            </a:pPr>
            <a:r>
              <a:t>TESTED &amp; VERIFIED SYSTEM CAPABILITIES</a:t>
            </a:r>
          </a:p>
          <a:p>
            <a:pPr>
              <a:spcBef>
                <a:spcPts val="800"/>
              </a:spcBef>
              <a:defRPr sz="1100">
                <a:solidFill>
                  <a:srgbClr val="292524"/>
                </a:solidFill>
              </a:defRPr>
            </a:pPr>
            <a:r>
              <a:t>✓  1-Click Instant Demo Authentication: Click 'Explore Jaipur Demo' on the landing page (demo@travelcompanion.ai / password123) with zero registration barriers.</a:t>
            </a:r>
          </a:p>
          <a:p>
            <a:pPr>
              <a:spcBef>
                <a:spcPts val="800"/>
              </a:spcBef>
              <a:defRPr sz="1100">
                <a:solidFill>
                  <a:srgbClr val="292524"/>
                </a:solidFill>
              </a:defRPr>
            </a:pPr>
            <a:r>
              <a:t>✓  Live Backend &amp; Frontend Integration: Spring Boot running on port 8080 with Tomcat, React dev server running on port 5173 with proxy configuration.</a:t>
            </a:r>
          </a:p>
          <a:p>
            <a:pPr>
              <a:spcBef>
                <a:spcPts val="800"/>
              </a:spcBef>
              <a:defRPr sz="1100">
                <a:solidFill>
                  <a:srgbClr val="292524"/>
                </a:solidFill>
              </a:defRPr>
            </a:pPr>
            <a:r>
              <a:t>✓  Zero-Dependency Reliability: If Gemini or Google Maps API keys are absent, intelligent heuristic fallback engines automatically calculate structured day sequencing and route geometry without errors.</a:t>
            </a:r>
          </a:p>
          <a:p>
            <a:pPr>
              <a:spcBef>
                <a:spcPts val="800"/>
              </a:spcBef>
              <a:defRPr sz="1100">
                <a:solidFill>
                  <a:srgbClr val="292524"/>
                </a:solidFill>
              </a:defRPr>
            </a:pPr>
            <a:r>
              <a:t>✓  ACID Persistence &amp; Schema: 12 JPA relational entities, automated DDL schema migrations, and pre-seeded monuments, havelis, and reviews.</a:t>
            </a:r>
          </a:p>
          <a:p>
            <a:pPr>
              <a:spcBef>
                <a:spcPts val="800"/>
              </a:spcBef>
              <a:defRPr sz="1100">
                <a:solidFill>
                  <a:srgbClr val="292524"/>
                </a:solidFill>
              </a:defRPr>
            </a:pPr>
            <a:r>
              <a:t>✓  100% Build Success: All 69 Java source files pass 'mvn test-compile' &amp; 'mvn test'; Vite React production build succeeds in 5.17s.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1">
                <a:solidFill>
                  <a:srgbClr val="C85A32"/>
                </a:solidFill>
              </a:defRPr>
            </a:pPr>
            <a:r>
              <a:t>“The future of travel isn’t a plan. It’s a companion.”</a:t>
            </a:r>
          </a:p>
          <a:p>
            <a:pPr algn="ctr">
              <a:spcBef>
                <a:spcPts val="1500"/>
              </a:spcBef>
              <a:defRPr sz="1600">
                <a:solidFill>
                  <a:srgbClr val="292524"/>
                </a:solidFill>
              </a:defRPr>
            </a:pPr>
            <a:r>
              <a:t>AI Travel Companion adapts in real time, understands emotional context,</a:t>
            </a:r>
            <a:br/>
            <a:r>
              <a:t>protects traveler budgets and safety, and preserves memories worth keeping.</a:t>
            </a:r>
          </a:p>
          <a:p>
            <a:pPr algn="ctr">
              <a:spcBef>
                <a:spcPts val="2500"/>
              </a:spcBef>
              <a:defRPr sz="1800" b="1">
                <a:solidFill>
                  <a:srgbClr val="688464"/>
                </a:solidFill>
              </a:defRPr>
            </a:pPr>
            <a:r>
              <a:t>Thank you! Open for Questions &amp; Live Interactive Demo.</a:t>
            </a:r>
          </a:p>
          <a:p>
            <a:pPr algn="ctr">
              <a:spcBef>
                <a:spcPts val="2000"/>
              </a:spcBef>
              <a:defRPr sz="1200">
                <a:solidFill>
                  <a:srgbClr val="78716C"/>
                </a:solidFill>
              </a:defRPr>
            </a:pPr>
            <a:r>
              <a:t>GitHub Repository: https://github.com/26fatimasiddiqui-create/ai_travel_companion</a:t>
            </a:r>
            <a:br/>
            <a:r>
              <a:t>LinkedIn: https://www.linkedin.com/in/maheen-fatima-7b15a3330/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