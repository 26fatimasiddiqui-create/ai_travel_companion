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73F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3273F"/>
                </a:solidFill>
                <a:latin typeface="Calibri"/>
              </a:rPr>
              <a:t>Where the ₹5,000 goes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F4A300"/>
              </a:solidFill>
              <a:effectLst/>
            </c:spPr>
          </c:dPt>
          <c:dPt>
            <c:idx val="3"/>
            <c:bubble3D val="0"/>
            <c:spPr>
              <a:solidFill>
                <a:srgbClr val="84B59F"/>
              </a:solidFill>
              <a:effectLst/>
            </c:spPr>
          </c:dPt>
          <c:dPt>
            <c:idx val="4"/>
            <c:bubble3D val="0"/>
            <c:spPr>
              <a:solidFill>
                <a:srgbClr val="A9C6DE"/>
              </a:solidFill>
              <a:effectLst/>
            </c:spPr>
          </c:dPt>
          <c:dLbls>
            <c:dLbl>
              <c:idx val="0"/>
              <c:numFmt formatCode="&quot;₹&quot;#,##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₹&quot;#,##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₹&quot;#,##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₹&quot;#,##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₹&quot;#,##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&quot;₹&quot;#,##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Hotel</c:v>
                </c:pt>
                <c:pt idx="1">
                  <c:v>Food</c:v>
                </c:pt>
                <c:pt idx="2">
                  <c:v>Transport</c:v>
                </c:pt>
                <c:pt idx="3">
                  <c:v>Tickets</c:v>
                </c:pt>
                <c:pt idx="4">
                  <c:v>Emergency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2000</c:v>
                </c:pt>
                <c:pt idx="1">
                  <c:v>1000</c:v>
                </c:pt>
                <c:pt idx="2">
                  <c:v>800</c:v>
                </c:pt>
                <c:pt idx="3">
                  <c:v>700</c:v>
                </c:pt>
                <c:pt idx="4">
                  <c:v>500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3273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1.png"/><Relationship Id="rId7" Type="http://schemas.openxmlformats.org/officeDocument/2006/relationships/image" Target="../media/image-5-3.png"/><Relationship Id="rId8" Type="http://schemas.openxmlformats.org/officeDocument/2006/relationships/image" Target="../media/image-5-4.png"/><Relationship Id="rId9" Type="http://schemas.openxmlformats.org/officeDocument/2006/relationships/image" Target="../media/image-5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4.png"/><Relationship Id="rId6" Type="http://schemas.openxmlformats.org/officeDocument/2006/relationships/image" Target="../media/image-11-4.png"/><Relationship Id="rId7" Type="http://schemas.openxmlformats.org/officeDocument/2006/relationships/image" Target="../media/image-11-4.png"/><Relationship Id="rId8" Type="http://schemas.openxmlformats.org/officeDocument/2006/relationships/image" Target="../media/image-11-4.png"/><Relationship Id="rId9" Type="http://schemas.openxmlformats.org/officeDocument/2006/relationships/image" Target="../media/image-11-4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274320"/>
            <a:ext cx="2743200" cy="274320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 DECK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Travel</a:t>
            </a:r>
            <a:endParaRPr lang="en-US" sz="60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Companion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intelligent travel assistant that plans, adapts, and reacts with you in real time — not just before the trip, but during every minute of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966960" y="4297680"/>
            <a:ext cx="1554480" cy="15544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travel_ppt/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6718" y="4647438"/>
            <a:ext cx="854964" cy="8549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5989320"/>
            <a:ext cx="4206240" cy="0"/>
          </a:xfrm>
          <a:prstGeom prst="line">
            <a:avLst/>
          </a:prstGeom>
          <a:noFill/>
          <a:ln w="12700">
            <a:solidFill>
              <a:srgbClr val="2E4C6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1081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static itinerary to a companion that thinks with you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apps stop working the moment your trip starts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01368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PDF or checklist made once, before you ever set foot in the city.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816352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70048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reaction to rain, traffic, closing times, or a budget running low.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685032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538728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sightseeing lists that ignore how the traveler actually feels that day.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537960" y="1783080"/>
            <a:ext cx="507492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52400" dist="50800" dir="5400000">
              <a:srgbClr val="1B2B44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0" y="2011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PLAN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237744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"Visit museum at 2 PM"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fixed, no matter what happens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0" y="3429000"/>
            <a:ext cx="4434840" cy="0"/>
          </a:xfrm>
          <a:prstGeom prst="line">
            <a:avLst/>
          </a:prstGeom>
          <a:noFill/>
          <a:ln w="19050">
            <a:solidFill>
              <a:srgbClr val="DC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36118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COMPANION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3977640"/>
            <a:ext cx="4434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"Museum closes in 45 min — go now.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raining — swap the park for the gallery."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Travel Companion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47472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01  ★ FLAGSHIP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AI Travel Companion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an itinerary — an assistant that watches the clock, the weather, and your wallet, and speaks up in the moment.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731520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500884"/>
            <a:ext cx="530352" cy="530352"/>
          </a:xfrm>
          <a:prstGeom prst="ellipse">
            <a:avLst/>
          </a:prstGeom>
          <a:solidFill>
            <a:srgbClr val="E7F1F7"/>
          </a:solidFill>
          <a:ln/>
        </p:spPr>
      </p:sp>
      <p:pic>
        <p:nvPicPr>
          <p:cNvPr id="8" name="Image 0" descr="/home/claude/travel_ppt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63804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386584"/>
            <a:ext cx="6172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museum closes in 45 minutes. Visit it now.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355848"/>
            <a:ext cx="731520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749808" y="3525012"/>
            <a:ext cx="530352" cy="530352"/>
          </a:xfrm>
          <a:prstGeom prst="ellipse">
            <a:avLst/>
          </a:prstGeom>
          <a:solidFill>
            <a:srgbClr val="E7F1F7"/>
          </a:solidFill>
          <a:ln/>
        </p:spPr>
      </p:sp>
      <p:pic>
        <p:nvPicPr>
          <p:cNvPr id="12" name="Image 1" descr="/home/claude/travel_ppt/icons/cloud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66217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3410712"/>
            <a:ext cx="6172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raining. Skip the park and visit the museum first.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379976"/>
            <a:ext cx="731520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4549140"/>
            <a:ext cx="530352" cy="530352"/>
          </a:xfrm>
          <a:prstGeom prst="ellipse">
            <a:avLst/>
          </a:prstGeom>
          <a:solidFill>
            <a:srgbClr val="E7F1F7"/>
          </a:solidFill>
          <a:ln/>
        </p:spPr>
      </p:sp>
      <p:pic>
        <p:nvPicPr>
          <p:cNvPr id="16" name="Image 2" descr="/home/claude/travel_ppt/icons/b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8630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434840"/>
            <a:ext cx="6172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There’s heavy traffic. Take the metro instead.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5404104"/>
            <a:ext cx="731520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749808" y="5573268"/>
            <a:ext cx="530352" cy="530352"/>
          </a:xfrm>
          <a:prstGeom prst="ellipse">
            <a:avLst/>
          </a:prstGeom>
          <a:solidFill>
            <a:srgbClr val="E7F1F7"/>
          </a:solidFill>
          <a:ln/>
        </p:spPr>
      </p:sp>
      <p:pic>
        <p:nvPicPr>
          <p:cNvPr id="20" name="Image 3" descr="/home/claude/travel_ppt/icons/wallet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571042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5458968"/>
            <a:ext cx="6172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₹800 left. Here are budget-friendly options.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Travel Companion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Mood-Based Trip Planning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only asking for a city, the app asks: "How do you feel today?" — and every recommendation changes with the answer.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1228" y="224028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2496312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travel_ppt/icons/sm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504" y="268833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1228" y="3474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Relaxed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51860" y="224028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25112" y="2496312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travel_ppt/icons/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268833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1860" y="3474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Romantic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222492" y="224028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095744" y="2496312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travel_ppt/icons/mount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768" y="268833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22492" y="3474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993124" y="224028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866376" y="2496312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/home/claude/travel_ppt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2688336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93124" y="3474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81228" y="443484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554480" y="4690872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4" descr="/home/claude/travel_ppt/icons/us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504" y="4882896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1228" y="5669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3451860" y="443484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325112" y="4690872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5" descr="/home/claude/travel_ppt/icons/came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36" y="4882896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451860" y="5669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Photography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6222492" y="443484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7095744" y="4690872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6" descr="/home/claude/travel_ppt/icons/utensil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7768" y="4882896"/>
            <a:ext cx="384048" cy="38404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222492" y="5669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Lover</a:t>
            </a:r>
            <a:endParaRPr lang="en-US" sz="1400" dirty="0"/>
          </a:p>
        </p:txBody>
      </p:sp>
      <p:sp>
        <p:nvSpPr>
          <p:cNvPr id="33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Travel Companion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Gems Discovery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looks past the famous landmarks and surfaces the places locals actually love.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travel_ppt/icons/coff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854" y="2721254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624328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cafés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/home/claude/travel_ppt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" y="3407054"/>
            <a:ext cx="281635" cy="281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310128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Lesser-known viewpoints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48640" y="39776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/home/claude/travel_ppt/icons/land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" y="4092854"/>
            <a:ext cx="281635" cy="2816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995928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museums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48640" y="46634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3" descr="/home/claude/travel_ppt/icons/shoppingB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" y="4778654"/>
            <a:ext cx="281635" cy="28163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4681728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markets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548640" y="53492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4" descr="/home/claude/travel_ppt/icons/apertu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" y="5464454"/>
            <a:ext cx="281635" cy="28163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5367528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photo spots</a:t>
            </a:r>
            <a:endParaRPr lang="en-US" sz="1450" dirty="0"/>
          </a:p>
        </p:txBody>
      </p:sp>
      <p:sp>
        <p:nvSpPr>
          <p:cNvPr id="20" name="Shape 13"/>
          <p:cNvSpPr/>
          <p:nvPr/>
        </p:nvSpPr>
        <p:spPr>
          <a:xfrm>
            <a:off x="6766560" y="1783080"/>
            <a:ext cx="4846320" cy="4251960"/>
          </a:xfrm>
          <a:prstGeom prst="roundRect">
            <a:avLst>
              <a:gd name="adj" fmla="val 2581"/>
            </a:avLst>
          </a:prstGeom>
          <a:solidFill>
            <a:srgbClr val="1C7293"/>
          </a:solidFill>
          <a:ln/>
        </p:spPr>
      </p:sp>
      <p:sp>
        <p:nvSpPr>
          <p:cNvPr id="21" name="Text 14"/>
          <p:cNvSpPr/>
          <p:nvPr/>
        </p:nvSpPr>
        <p:spPr>
          <a:xfrm>
            <a:off x="7086600" y="2194560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"Skip the guidebook —</a:t>
            </a:r>
            <a:endParaRPr lang="en-US" sz="19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what the guidebook missed."</a:t>
            </a:r>
            <a:endParaRPr lang="en-US" sz="1900" dirty="0"/>
          </a:p>
        </p:txBody>
      </p:sp>
      <p:sp>
        <p:nvSpPr>
          <p:cNvPr id="22" name="Shape 15"/>
          <p:cNvSpPr/>
          <p:nvPr/>
        </p:nvSpPr>
        <p:spPr>
          <a:xfrm>
            <a:off x="7086600" y="361188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5" descr="/home/claude/travel_ppt/icons/coffe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8332" y="3753612"/>
            <a:ext cx="283464" cy="283464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235440" y="361188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6" descr="/home/claude/travel_ppt/icons/landm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7172" y="3753612"/>
            <a:ext cx="283464" cy="283464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7086600" y="48006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7" descr="/home/claude/travel_ppt/icons/shoppingBa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8332" y="4942332"/>
            <a:ext cx="283464" cy="28346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235440" y="48006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9" name="Image 8" descr="/home/claude/travel_ppt/icons/apertur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7172" y="4942332"/>
            <a:ext cx="283464" cy="283464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Travel Companion</a:t>
            </a:r>
            <a:endParaRPr lang="en-US" sz="900" dirty="0"/>
          </a:p>
        </p:txBody>
      </p:sp>
      <p:sp>
        <p:nvSpPr>
          <p:cNvPr id="31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Budget Optimizer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number. It builds the whole trip inside that number — and swaps in cheaper alternatives the moment the plan runs over.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BUDGET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₹5,000</a:t>
            </a:r>
            <a:endParaRPr lang="en-US" sz="3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537960" y="1737360"/>
          <a:ext cx="5120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7490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plan exceeds ₹5,000, the AI automatically recommends cheaper alternatives for the next line item.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Travel Companion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 Prediction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attraction gets a live crowd estimate — and the AI times your visit around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05256" y="233172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258775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62456" y="3246120"/>
            <a:ext cx="2331720" cy="274320"/>
          </a:xfrm>
          <a:prstGeom prst="roundRect">
            <a:avLst>
              <a:gd name="adj" fmla="val 20000"/>
            </a:avLst>
          </a:prstGeom>
          <a:solidFill>
            <a:srgbClr val="E7EEF3"/>
          </a:solidFill>
          <a:ln/>
        </p:spPr>
      </p:sp>
      <p:sp>
        <p:nvSpPr>
          <p:cNvPr id="8" name="Shape 6"/>
          <p:cNvSpPr/>
          <p:nvPr/>
        </p:nvSpPr>
        <p:spPr>
          <a:xfrm>
            <a:off x="1362456" y="3246120"/>
            <a:ext cx="816102" cy="27432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2071116" y="384048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0" descr="/home/claude/travel_ppt/icons/users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9716" y="40690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05256" y="49377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time to visit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05256" y="518464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– 10:30 AM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71416" y="233172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71416" y="258775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928616" y="3246120"/>
            <a:ext cx="2331720" cy="274320"/>
          </a:xfrm>
          <a:prstGeom prst="roundRect">
            <a:avLst>
              <a:gd name="adj" fmla="val 20000"/>
            </a:avLst>
          </a:prstGeom>
          <a:solidFill>
            <a:srgbClr val="E7EEF3"/>
          </a:solidFill>
          <a:ln/>
        </p:spPr>
      </p:sp>
      <p:sp>
        <p:nvSpPr>
          <p:cNvPr id="16" name="Shape 13"/>
          <p:cNvSpPr/>
          <p:nvPr/>
        </p:nvSpPr>
        <p:spPr>
          <a:xfrm>
            <a:off x="4928616" y="3246120"/>
            <a:ext cx="1515618" cy="27432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7" name="Shape 14"/>
          <p:cNvSpPr/>
          <p:nvPr/>
        </p:nvSpPr>
        <p:spPr>
          <a:xfrm>
            <a:off x="5637276" y="38404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1" descr="/home/claude/travel_ppt/icons/users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6" y="406908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471416" y="49377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time to visit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471416" y="518464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AM – 1:00 PM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8037576" y="233172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037576" y="258775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8494776" y="3246120"/>
            <a:ext cx="2331720" cy="274320"/>
          </a:xfrm>
          <a:prstGeom prst="roundRect">
            <a:avLst>
              <a:gd name="adj" fmla="val 20000"/>
            </a:avLst>
          </a:prstGeom>
          <a:solidFill>
            <a:srgbClr val="E7EEF3"/>
          </a:solidFill>
          <a:ln/>
        </p:spPr>
      </p:sp>
      <p:sp>
        <p:nvSpPr>
          <p:cNvPr id="24" name="Shape 20"/>
          <p:cNvSpPr/>
          <p:nvPr/>
        </p:nvSpPr>
        <p:spPr>
          <a:xfrm>
            <a:off x="8494776" y="3246120"/>
            <a:ext cx="2215134" cy="274320"/>
          </a:xfrm>
          <a:prstGeom prst="roundRect">
            <a:avLst>
              <a:gd name="adj" fmla="val 20000"/>
            </a:avLst>
          </a:prstGeom>
          <a:solidFill>
            <a:srgbClr val="F4A300"/>
          </a:solidFill>
          <a:ln/>
        </p:spPr>
      </p:sp>
      <p:sp>
        <p:nvSpPr>
          <p:cNvPr id="25" name="Shape 21"/>
          <p:cNvSpPr/>
          <p:nvPr/>
        </p:nvSpPr>
        <p:spPr>
          <a:xfrm>
            <a:off x="9203436" y="3840480"/>
            <a:ext cx="914400" cy="91440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26" name="Image 2" descr="/home/claude/travel_ppt/icons/usersRou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2036" y="406908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037576" y="49377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time to visit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8037576" y="518464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 – 5:00 PM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Travel Companion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Together Planner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groups of friends who can never agree on a plan.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76656" y="228600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05256" y="24871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979676" y="30632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travel_ppt/icons/users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5416" y="32689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0976" y="41605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votes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50976" y="457200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traveler picks the places and activities they want.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79976" y="228600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4608576" y="24871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1" descr="/home/claude/travel_ppt/icons/vo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326898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54296" y="41605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merges it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54296" y="457200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itinerary is generated that satisfies most preferences.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83296" y="228600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>
            <a:off x="8311896" y="24871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9386316" y="30632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2" descr="/home/claude/travel_ppt/icons/spl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056" y="326898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57616" y="41605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are split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357616" y="457200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expenses are divided automatically among the group.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Travel Companion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Mode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planned for every kind of traveler — with routes that actually work for them.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76656" y="219456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" y="2624328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travel_ppt/icons/accessi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3866" y="2841498"/>
            <a:ext cx="434340" cy="4343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48256" y="219456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Wheelchair users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79976" y="219456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0016" y="2624328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travel_ppt/icons/personSta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186" y="2841498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51576" y="219456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citizens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83296" y="219456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03336" y="2624328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travel_ppt/icons/bab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506" y="2841498"/>
            <a:ext cx="434340" cy="4343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454896" y="219456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with young children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76656" y="4251960"/>
            <a:ext cx="10835640" cy="150876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</p:sp>
      <p:sp>
        <p:nvSpPr>
          <p:cNvPr id="18" name="Text 13"/>
          <p:cNvSpPr/>
          <p:nvPr/>
        </p:nvSpPr>
        <p:spPr>
          <a:xfrm>
            <a:off x="1042416" y="4251960"/>
            <a:ext cx="101041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accessible routes, elevators, ramps, and suitable attractions for every profile — automatically, not as an afterthought.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Travel Companion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Safety Score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built for solo travelers, women, and night travel.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6400800" cy="868680"/>
          </a:xfrm>
          <a:prstGeom prst="roundRect">
            <a:avLst>
              <a:gd name="adj" fmla="val 12632"/>
            </a:avLst>
          </a:prstGeom>
          <a:solidFill>
            <a:srgbClr val="132C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4688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travel_ppt/icons/navig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259461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86000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routes highlighted on the map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3310128"/>
            <a:ext cx="6400800" cy="868680"/>
          </a:xfrm>
          <a:prstGeom prst="roundRect">
            <a:avLst>
              <a:gd name="adj" fmla="val 12632"/>
            </a:avLst>
          </a:prstGeom>
          <a:solidFill>
            <a:srgbClr val="132C4F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49300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travel_ppt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3618738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310128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Well-lit areas prioritized after dark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4334256"/>
            <a:ext cx="6400800" cy="868680"/>
          </a:xfrm>
          <a:prstGeom prst="roundRect">
            <a:avLst>
              <a:gd name="adj" fmla="val 12632"/>
            </a:avLst>
          </a:prstGeom>
          <a:solidFill>
            <a:srgbClr val="132C4F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45171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/home/claude/travel_ppt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4642866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4334256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police stations and hospitals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548640" y="5358384"/>
            <a:ext cx="6400800" cy="868680"/>
          </a:xfrm>
          <a:prstGeom prst="roundRect">
            <a:avLst>
              <a:gd name="adj" fmla="val 12632"/>
            </a:avLst>
          </a:prstGeom>
          <a:solidFill>
            <a:srgbClr val="132C4F"/>
          </a:solidFill>
          <a:ln/>
        </p:spPr>
      </p:sp>
      <p:sp>
        <p:nvSpPr>
          <p:cNvPr id="18" name="Shape 13"/>
          <p:cNvSpPr/>
          <p:nvPr/>
        </p:nvSpPr>
        <p:spPr>
          <a:xfrm>
            <a:off x="777240" y="554126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/home/claude/travel_ppt/icons/ph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" y="5666994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63040" y="5358384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emergency contacts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8595360" y="2468880"/>
            <a:ext cx="2926080" cy="2926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4" descr="/home/claude/travel_ppt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32" y="3273552"/>
            <a:ext cx="1316736" cy="13167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595360" y="4709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17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Travel Companion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Packing List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inputs generate a checklist you’d otherwise write by hand.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1945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25146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travel_ppt/icons/cloudS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697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383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2971800" y="2286000"/>
            <a:ext cx="21945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03320" y="25146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travel_ppt/icons/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6974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1800" y="3383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duration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394960" y="2286000"/>
            <a:ext cx="21945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26480" y="25146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travel_ppt/icons/backp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6974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94960" y="3383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activities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7635240" y="28346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300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Shape 13"/>
          <p:cNvSpPr/>
          <p:nvPr/>
        </p:nvSpPr>
        <p:spPr>
          <a:xfrm>
            <a:off x="8092440" y="2286000"/>
            <a:ext cx="3200400" cy="3977640"/>
          </a:xfrm>
          <a:prstGeom prst="roundRect">
            <a:avLst>
              <a:gd name="adj" fmla="val 3429"/>
            </a:avLst>
          </a:prstGeom>
          <a:solidFill>
            <a:srgbClr val="065A82"/>
          </a:solidFill>
          <a:ln/>
        </p:spPr>
      </p:sp>
      <p:sp>
        <p:nvSpPr>
          <p:cNvPr id="19" name="Text 14"/>
          <p:cNvSpPr/>
          <p:nvPr/>
        </p:nvSpPr>
        <p:spPr>
          <a:xfrm>
            <a:off x="8366760" y="2514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CHECKLIST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366760" y="297180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travel_ppt/icons/checkSqu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0826" y="3045866"/>
            <a:ext cx="181051" cy="1810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05672" y="297180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jacket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8366760" y="3483864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4" descr="/home/claude/travel_ppt/icons/checkSqu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0826" y="3557930"/>
            <a:ext cx="181051" cy="18105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805672" y="348386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walking shoes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8366760" y="399592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5" descr="/home/claude/travel_ppt/icons/checkSqua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0826" y="4069994"/>
            <a:ext cx="181051" cy="18105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805672" y="39959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charger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8366760" y="450799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6" descr="/home/claude/travel_ppt/icons/checkSqua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0826" y="4582058"/>
            <a:ext cx="181051" cy="181051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805672" y="450799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water bottle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8366760" y="5020056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7" descr="/home/claude/travel_ppt/icons/checkSquar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0826" y="5094122"/>
            <a:ext cx="181051" cy="181051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805672" y="502005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daypack</a:t>
            </a:r>
            <a:endParaRPr lang="en-US" sz="1250" dirty="0"/>
          </a:p>
        </p:txBody>
      </p:sp>
      <p:sp>
        <p:nvSpPr>
          <p:cNvPr id="35" name="Shape 25"/>
          <p:cNvSpPr/>
          <p:nvPr/>
        </p:nvSpPr>
        <p:spPr>
          <a:xfrm>
            <a:off x="8366760" y="553212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8" descr="/home/claude/travel_ppt/icons/checkSquar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0826" y="5606186"/>
            <a:ext cx="181051" cy="181051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805672" y="55321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Sunscreen &amp; cap</a:t>
            </a:r>
            <a:endParaRPr lang="en-US" sz="1250" dirty="0"/>
          </a:p>
        </p:txBody>
      </p:sp>
      <p:sp>
        <p:nvSpPr>
          <p:cNvPr id="38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Travel Companion</a:t>
            </a:r>
            <a:endParaRPr lang="en-US" sz="900" dirty="0"/>
          </a:p>
        </p:txBody>
      </p:sp>
      <p:sp>
        <p:nvSpPr>
          <p:cNvPr id="39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Timeline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trip ends, the app becomes a digital travel journal.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481328" y="246888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travel_ppt/icons/map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2697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1228" y="35661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visited places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214116" y="2724912"/>
            <a:ext cx="210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30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251960" y="24688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travel_ppt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6974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51860" y="35661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984748" y="2724912"/>
            <a:ext cx="210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300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7022592" y="246888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/home/claude/travel_ppt/icons/doll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26974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22492" y="35661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expenses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755380" y="2724912"/>
            <a:ext cx="210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300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9793224" y="24688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travel_ppt/icons/ed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1824" y="26974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93124" y="35661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notes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81228" y="4160520"/>
            <a:ext cx="10826496" cy="13716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21" name="Text 15"/>
          <p:cNvSpPr/>
          <p:nvPr/>
        </p:nvSpPr>
        <p:spPr>
          <a:xfrm>
            <a:off x="1046988" y="4160520"/>
            <a:ext cx="100949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trip becomes a story you can look back on — not just a folder of screenshots.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Travel Companion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FEATURE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Trip Simulation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trip even starts, the app simulates the entire day — minute by minute — so it feels like a preview, not a guess.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JAIPUR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2880360"/>
            <a:ext cx="0" cy="3017520"/>
          </a:xfrm>
          <a:prstGeom prst="line">
            <a:avLst/>
          </a:prstGeom>
          <a:noFill/>
          <a:ln w="25400">
            <a:solidFill>
              <a:srgbClr val="C7DC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2798064"/>
            <a:ext cx="164592" cy="164592"/>
          </a:xfrm>
          <a:prstGeom prst="ellipse">
            <a:avLst/>
          </a:prstGeom>
          <a:solidFill>
            <a:srgbClr val="F4A3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2715768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 AM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234440" y="26974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hotel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7824" y="3401568"/>
            <a:ext cx="164592" cy="164592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" y="331927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AM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234440" y="3300984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Hawa Mahal — spend 1.5 hrs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7824" y="4005072"/>
            <a:ext cx="164592" cy="164592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" y="3922776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10:35 AM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34440" y="390448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5 min to City Palace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77824" y="4608576"/>
            <a:ext cx="164592" cy="164592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" y="45262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12:15 PM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234440" y="450799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at a nearby restaurant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7824" y="5212080"/>
            <a:ext cx="164592" cy="164592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5129784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PM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234440" y="5111496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Jantar Mantar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77824" y="5815584"/>
            <a:ext cx="164592" cy="164592"/>
          </a:xfrm>
          <a:prstGeom prst="ellipse">
            <a:avLst/>
          </a:prstGeom>
          <a:solidFill>
            <a:srgbClr val="F4A3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" y="5733288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 PM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234440" y="57150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by metro, ahead of rush hour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23760" y="2148840"/>
            <a:ext cx="4434840" cy="4069080"/>
          </a:xfrm>
          <a:prstGeom prst="roundRect">
            <a:avLst>
              <a:gd name="adj" fmla="val 2697"/>
            </a:avLst>
          </a:prstGeom>
          <a:solidFill>
            <a:srgbClr val="065A82"/>
          </a:solidFill>
          <a:ln/>
        </p:spPr>
      </p:sp>
      <p:sp>
        <p:nvSpPr>
          <p:cNvPr id="27" name="Shape 25"/>
          <p:cNvSpPr/>
          <p:nvPr/>
        </p:nvSpPr>
        <p:spPr>
          <a:xfrm>
            <a:off x="8938260" y="251460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0" descr="/home/claude/travel_ppt/icons/navig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766060"/>
            <a:ext cx="502920" cy="5029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543800" y="370332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"It feels like the user is previewing the entire day."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543800" y="489204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C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stop is timed, walkable, and sequenced — turning anxiety about "what if" into confidence about "what next."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Travel Companion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Priority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expected impact on the judging criteria and the traveler’s day-to-day experience.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214884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64240" cy="361188"/>
          </a:xfrm>
          <a:prstGeom prst="rect">
            <a:avLst/>
          </a:prstGeom>
          <a:solidFill>
            <a:srgbClr val="E9F1F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14600"/>
            <a:ext cx="585216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Travel Companion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0" y="2514600"/>
            <a:ext cx="498348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875788"/>
            <a:ext cx="585216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Mood-Based Trip Planning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2875788"/>
            <a:ext cx="498348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36976"/>
            <a:ext cx="11064240" cy="361188"/>
          </a:xfrm>
          <a:prstGeom prst="rect">
            <a:avLst/>
          </a:prstGeom>
          <a:solidFill>
            <a:srgbClr val="E9F1F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36976"/>
            <a:ext cx="585216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Budget Optimizer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0" y="3236976"/>
            <a:ext cx="498348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598164"/>
            <a:ext cx="585216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Mode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3598164"/>
            <a:ext cx="498348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959352"/>
            <a:ext cx="11064240" cy="361188"/>
          </a:xfrm>
          <a:prstGeom prst="rect">
            <a:avLst/>
          </a:prstGeom>
          <a:solidFill>
            <a:srgbClr val="E9F1F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959352"/>
            <a:ext cx="585216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Score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0" y="3959352"/>
            <a:ext cx="498348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320540"/>
            <a:ext cx="585216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Trip Simulation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4320540"/>
            <a:ext cx="498348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681728"/>
            <a:ext cx="11064240" cy="361188"/>
          </a:xfrm>
          <a:prstGeom prst="rect">
            <a:avLst/>
          </a:prstGeom>
          <a:solidFill>
            <a:srgbClr val="E9F1F6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681728"/>
            <a:ext cx="585216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Gems Discovery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0" y="4681728"/>
            <a:ext cx="498348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5042916"/>
            <a:ext cx="585216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Prediction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0" y="5042916"/>
            <a:ext cx="498348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404104"/>
            <a:ext cx="11064240" cy="361188"/>
          </a:xfrm>
          <a:prstGeom prst="rect">
            <a:avLst/>
          </a:prstGeom>
          <a:solidFill>
            <a:srgbClr val="E9F1F6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404104"/>
            <a:ext cx="585216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Together Planner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0" y="5404104"/>
            <a:ext cx="498348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" y="5765292"/>
            <a:ext cx="585216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Packing List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00800" y="5765292"/>
            <a:ext cx="498348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6126480"/>
            <a:ext cx="11064240" cy="361188"/>
          </a:xfrm>
          <a:prstGeom prst="rect">
            <a:avLst/>
          </a:prstGeom>
          <a:solidFill>
            <a:srgbClr val="E9F1F6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6126480"/>
            <a:ext cx="585216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Timeline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0" y="6126480"/>
            <a:ext cx="498348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Travel Companion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/home/claude/travel_ppt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14630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future of travel isn’t a plan.</a:t>
            </a:r>
            <a:endParaRPr lang="en-US" sz="32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It’s a companion.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461772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Travel Companion adapts in real time, understands how you feel, protects your budget and your safety, and turns every trip into a story worth keeping.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718304" y="5669280"/>
            <a:ext cx="2743200" cy="0"/>
          </a:xfrm>
          <a:prstGeom prst="line">
            <a:avLst/>
          </a:prstGeom>
          <a:noFill/>
          <a:ln w="12700">
            <a:solidFill>
              <a:srgbClr val="2E4C6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2026-08-02T14:53:00Z</dcterms:created>
  <dcterms:modified xsi:type="dcterms:W3CDTF">2026-08-02T14:53:00Z</dcterms:modified>
</cp:coreProperties>
</file>